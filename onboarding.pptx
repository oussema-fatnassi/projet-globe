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mo Bold" charset="1" panose="020B0704020202020204"/>
      <p:regular r:id="rId26"/>
    </p:embeddedFont>
    <p:embeddedFont>
      <p:font typeface="Arimo" charset="1" panose="020B0604020202020204"/>
      <p:regular r:id="rId27"/>
    </p:embeddedFont>
    <p:embeddedFont>
      <p:font typeface="Arimo Italics" charset="1" panose="020B060402020209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oussemafatnassi.atlassian.net/jira/software/projects/PG" TargetMode="External" Type="http://schemas.openxmlformats.org/officeDocument/2006/relationships/hyperlink"/><Relationship Id="rId3" Target="https://oussemafatnassi.atlassian.net/wiki/spaces/PG" TargetMode="External" Type="http://schemas.openxmlformats.org/officeDocument/2006/relationships/hyperlink"/><Relationship Id="rId4" Target="https://lucid.app/lucidchart/649771ea-093a-481e-aa80-5e0bb200fbc5/edit" TargetMode="External" Type="http://schemas.openxmlformats.org/officeDocument/2006/relationships/hyperlink"/><Relationship Id="rId5" Target="https://miro.com/app/board/uXjVEdrbzI4=/" TargetMode="External" Type="http://schemas.openxmlformats.org/officeDocument/2006/relationships/hyperlink"/><Relationship Id="rId6" Target="https://github.com/oussema-fatnassi/projet-globe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143000"/>
            <a:ext cx="266700" cy="266700"/>
            <a:chOff x="0" y="0"/>
            <a:chExt cx="3556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26941" y="-1498428"/>
            <a:ext cx="10021485" cy="10021485"/>
          </a:xfrm>
          <a:custGeom>
            <a:avLst/>
            <a:gdLst/>
            <a:ahLst/>
            <a:cxnLst/>
            <a:rect r="r" b="b" t="t" l="l"/>
            <a:pathLst>
              <a:path h="10021485" w="10021485">
                <a:moveTo>
                  <a:pt x="0" y="0"/>
                </a:moveTo>
                <a:lnTo>
                  <a:pt x="10021485" y="0"/>
                </a:lnTo>
                <a:lnTo>
                  <a:pt x="10021485" y="10021485"/>
                </a:lnTo>
                <a:lnTo>
                  <a:pt x="0" y="10021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9250" y="1095375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PROJET GLOBE · ONBOARDING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857500"/>
            <a:ext cx="1047750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Bienvenue sur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5848350"/>
            <a:ext cx="9525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30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L'intranet pédagogique, de l'équipe jusqu'au 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8524875"/>
            <a:ext cx="1238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Équipe  ·  Fonctionnalités  ·  Base de données  ·  Code base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5715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PROGRAMME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Votre premier jour en 4 étapes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3857625"/>
            <a:ext cx="34290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5172075"/>
            <a:ext cx="34290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L'équipe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5800725"/>
            <a:ext cx="32385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Qui fait quoi et comment nous travaillons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43500" y="3857625"/>
            <a:ext cx="34290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43500" y="5172075"/>
            <a:ext cx="34290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Les fonctionnalités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43500" y="5800725"/>
            <a:ext cx="32385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Ce que fait l'intranet, vu côté technique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857625"/>
            <a:ext cx="34290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5172075"/>
            <a:ext cx="34290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La base de données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5800725"/>
            <a:ext cx="32385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Le modèle et les règles qu'il garantit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44500" y="3857625"/>
            <a:ext cx="34290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44500" y="5172075"/>
            <a:ext cx="34290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La code base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44500" y="5800725"/>
            <a:ext cx="32385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Composants, tests et documentation à tenir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000" y="3619500"/>
            <a:ext cx="16002000" cy="19050"/>
            <a:chOff x="0" y="0"/>
            <a:chExt cx="21336000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43000" y="8515350"/>
            <a:ext cx="16002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Ce support ne recopie pas la documentation : chaque slide indique où la trouver.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5715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CONTEXTE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Le projet en une minute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3067050"/>
            <a:ext cx="1333500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Globe est la refonte de l'intranet de La Plateforme. Il sert aux étudiants et à l'équipe pédagogique : projets, rendus, groupes, compétences, temps de log et statistiques.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5334000"/>
            <a:ext cx="16002000" cy="19050"/>
            <a:chOff x="0" y="0"/>
            <a:chExt cx="213360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43000" y="5715000"/>
            <a:ext cx="47625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2 espaces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6610350"/>
            <a:ext cx="4191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Un espace étudiant et un espace équipe pédagogique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77000" y="5715000"/>
            <a:ext cx="47625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6 rôles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77000" y="6610350"/>
            <a:ext cx="4191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De l'étudiant au superadmin, chacun avec son périmètre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11000" y="5715000"/>
            <a:ext cx="53340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Plusieurs années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11000" y="6610350"/>
            <a:ext cx="4191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Des versions successives et une évolution SaaS possible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9086850"/>
            <a:ext cx="1333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Cahier des charges · Product Goal Canvas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53322" y="2288899"/>
            <a:ext cx="10463288" cy="6722663"/>
          </a:xfrm>
          <a:custGeom>
            <a:avLst/>
            <a:gdLst/>
            <a:ahLst/>
            <a:cxnLst/>
            <a:rect r="r" b="b" t="t" l="l"/>
            <a:pathLst>
              <a:path h="6722663" w="10463288">
                <a:moveTo>
                  <a:pt x="0" y="0"/>
                </a:moveTo>
                <a:lnTo>
                  <a:pt x="10463288" y="0"/>
                </a:lnTo>
                <a:lnTo>
                  <a:pt x="10463288" y="6722662"/>
                </a:lnTo>
                <a:lnTo>
                  <a:pt x="0" y="6722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5900" y="866775"/>
            <a:ext cx="5715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CONTEXTE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Pourquoi on construit Globe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9086850"/>
            <a:ext cx="1333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Miro · Product Goal Canvas (révision 2 du 08/10/2026)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5715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01 · L'ÉQUIPE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Qui fait quoi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239000" y="2762250"/>
            <a:ext cx="3810000" cy="1047750"/>
            <a:chOff x="0" y="0"/>
            <a:chExt cx="5080000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080000">
                  <a:moveTo>
                    <a:pt x="203200" y="0"/>
                  </a:moveTo>
                  <a:lnTo>
                    <a:pt x="4876800" y="0"/>
                  </a:lnTo>
                  <a:cubicBezTo>
                    <a:pt x="4989024" y="0"/>
                    <a:pt x="5080000" y="90976"/>
                    <a:pt x="5080000" y="203200"/>
                  </a:cubicBezTo>
                  <a:lnTo>
                    <a:pt x="5080000" y="1193800"/>
                  </a:lnTo>
                  <a:cubicBezTo>
                    <a:pt x="5080000" y="1306024"/>
                    <a:pt x="4989024" y="1397000"/>
                    <a:pt x="4876800" y="1397000"/>
                  </a:cubicBezTo>
                  <a:lnTo>
                    <a:pt x="203200" y="1397000"/>
                  </a:lnTo>
                  <a:cubicBezTo>
                    <a:pt x="90976" y="1397000"/>
                    <a:pt x="0" y="1306024"/>
                    <a:pt x="0" y="1193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D1D5D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80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429500" y="2867025"/>
            <a:ext cx="3429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Directeur de l'organisme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Commanditaire · Sprint Reviews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34475" y="3810000"/>
            <a:ext cx="19050" cy="381000"/>
            <a:chOff x="0" y="0"/>
            <a:chExt cx="25400" cy="50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00" cy="508000"/>
            </a:xfrm>
            <a:custGeom>
              <a:avLst/>
              <a:gdLst/>
              <a:ahLst/>
              <a:cxnLst/>
              <a:rect r="r" b="b" t="t" l="l"/>
              <a:pathLst>
                <a:path h="508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10000" y="4191000"/>
            <a:ext cx="10687050" cy="19050"/>
            <a:chOff x="0" y="0"/>
            <a:chExt cx="142494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49400" cy="25400"/>
            </a:xfrm>
            <a:custGeom>
              <a:avLst/>
              <a:gdLst/>
              <a:ahLst/>
              <a:cxnLst/>
              <a:rect r="r" b="b" t="t" l="l"/>
              <a:pathLst>
                <a:path h="25400" w="14249400">
                  <a:moveTo>
                    <a:pt x="0" y="0"/>
                  </a:moveTo>
                  <a:lnTo>
                    <a:pt x="14249400" y="0"/>
                  </a:lnTo>
                  <a:lnTo>
                    <a:pt x="14249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249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810000" y="4191000"/>
            <a:ext cx="19050" cy="285750"/>
            <a:chOff x="0" y="0"/>
            <a:chExt cx="25400" cy="38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400" cy="381000"/>
            </a:xfrm>
            <a:custGeom>
              <a:avLst/>
              <a:gdLst/>
              <a:ahLst/>
              <a:cxnLst/>
              <a:rect r="r" b="b" t="t" l="l"/>
              <a:pathLst>
                <a:path h="381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54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34475" y="4191000"/>
            <a:ext cx="19050" cy="285750"/>
            <a:chOff x="0" y="0"/>
            <a:chExt cx="25400" cy="38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400" cy="381000"/>
            </a:xfrm>
            <a:custGeom>
              <a:avLst/>
              <a:gdLst/>
              <a:ahLst/>
              <a:cxnLst/>
              <a:rect r="r" b="b" t="t" l="l"/>
              <a:pathLst>
                <a:path h="381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4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78000" y="4191000"/>
            <a:ext cx="19050" cy="285750"/>
            <a:chOff x="0" y="0"/>
            <a:chExt cx="25400" cy="38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400" cy="381000"/>
            </a:xfrm>
            <a:custGeom>
              <a:avLst/>
              <a:gdLst/>
              <a:ahLst/>
              <a:cxnLst/>
              <a:rect r="r" b="b" t="t" l="l"/>
              <a:pathLst>
                <a:path h="381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54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14500" y="4476750"/>
            <a:ext cx="4191000" cy="1238250"/>
            <a:chOff x="0" y="0"/>
            <a:chExt cx="5588000" cy="1651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8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588000">
                  <a:moveTo>
                    <a:pt x="203200" y="0"/>
                  </a:moveTo>
                  <a:lnTo>
                    <a:pt x="5384800" y="0"/>
                  </a:lnTo>
                  <a:cubicBezTo>
                    <a:pt x="5497024" y="0"/>
                    <a:pt x="5588000" y="90976"/>
                    <a:pt x="5588000" y="203200"/>
                  </a:cubicBezTo>
                  <a:lnTo>
                    <a:pt x="5588000" y="1447800"/>
                  </a:lnTo>
                  <a:cubicBezTo>
                    <a:pt x="5588000" y="1560024"/>
                    <a:pt x="5497024" y="1651000"/>
                    <a:pt x="5384800" y="1651000"/>
                  </a:cubicBezTo>
                  <a:lnTo>
                    <a:pt x="203200" y="1651000"/>
                  </a:lnTo>
                  <a:cubicBezTo>
                    <a:pt x="90976" y="1651000"/>
                    <a:pt x="0" y="1560024"/>
                    <a:pt x="0" y="144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D1D5DB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58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943100" y="4714875"/>
            <a:ext cx="37338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Product Owner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Priorise le backlog produit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048500" y="4476750"/>
            <a:ext cx="4191000" cy="1238250"/>
            <a:chOff x="0" y="0"/>
            <a:chExt cx="5588000" cy="1651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8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588000">
                  <a:moveTo>
                    <a:pt x="203200" y="0"/>
                  </a:moveTo>
                  <a:lnTo>
                    <a:pt x="5384800" y="0"/>
                  </a:lnTo>
                  <a:cubicBezTo>
                    <a:pt x="5497024" y="0"/>
                    <a:pt x="5588000" y="90976"/>
                    <a:pt x="5588000" y="203200"/>
                  </a:cubicBezTo>
                  <a:lnTo>
                    <a:pt x="5588000" y="1447800"/>
                  </a:lnTo>
                  <a:cubicBezTo>
                    <a:pt x="5588000" y="1560024"/>
                    <a:pt x="5497024" y="1651000"/>
                    <a:pt x="5384800" y="1651000"/>
                  </a:cubicBezTo>
                  <a:lnTo>
                    <a:pt x="203200" y="1651000"/>
                  </a:lnTo>
                  <a:cubicBezTo>
                    <a:pt x="90976" y="1651000"/>
                    <a:pt x="0" y="1560024"/>
                    <a:pt x="0" y="144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D1D5DB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58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277100" y="4714875"/>
            <a:ext cx="37338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Scrum Master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Facilite Scrum et lève les obstacles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382500" y="4476750"/>
            <a:ext cx="4191000" cy="1238250"/>
            <a:chOff x="0" y="0"/>
            <a:chExt cx="5588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8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588000">
                  <a:moveTo>
                    <a:pt x="203200" y="0"/>
                  </a:moveTo>
                  <a:lnTo>
                    <a:pt x="5384800" y="0"/>
                  </a:lnTo>
                  <a:cubicBezTo>
                    <a:pt x="5497024" y="0"/>
                    <a:pt x="5588000" y="90976"/>
                    <a:pt x="5588000" y="203200"/>
                  </a:cubicBezTo>
                  <a:lnTo>
                    <a:pt x="5588000" y="1447800"/>
                  </a:lnTo>
                  <a:cubicBezTo>
                    <a:pt x="5588000" y="1560024"/>
                    <a:pt x="5497024" y="1651000"/>
                    <a:pt x="5384800" y="1651000"/>
                  </a:cubicBezTo>
                  <a:lnTo>
                    <a:pt x="203200" y="1651000"/>
                  </a:lnTo>
                  <a:cubicBezTo>
                    <a:pt x="90976" y="1651000"/>
                    <a:pt x="0" y="1560024"/>
                    <a:pt x="0" y="144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D1D5DB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58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611100" y="4714875"/>
            <a:ext cx="37338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Directeur technique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Architecture et ADR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134475" y="5715000"/>
            <a:ext cx="19050" cy="666750"/>
            <a:chOff x="0" y="0"/>
            <a:chExt cx="25400" cy="889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400" cy="889000"/>
            </a:xfrm>
            <a:custGeom>
              <a:avLst/>
              <a:gdLst/>
              <a:ahLst/>
              <a:cxnLst/>
              <a:rect r="r" b="b" t="t" l="l"/>
              <a:pathLst>
                <a:path h="889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54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4500" y="6381750"/>
            <a:ext cx="14859000" cy="1428750"/>
            <a:chOff x="0" y="0"/>
            <a:chExt cx="19812000" cy="1905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81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812000">
                  <a:moveTo>
                    <a:pt x="203200" y="0"/>
                  </a:moveTo>
                  <a:lnTo>
                    <a:pt x="19608800" y="0"/>
                  </a:lnTo>
                  <a:cubicBezTo>
                    <a:pt x="19721024" y="0"/>
                    <a:pt x="19812000" y="90976"/>
                    <a:pt x="19812000" y="203200"/>
                  </a:cubicBezTo>
                  <a:lnTo>
                    <a:pt x="19812000" y="1701800"/>
                  </a:lnTo>
                  <a:cubicBezTo>
                    <a:pt x="19812000" y="1814024"/>
                    <a:pt x="19721024" y="1905000"/>
                    <a:pt x="19608800" y="1905000"/>
                  </a:cubicBezTo>
                  <a:lnTo>
                    <a:pt x="203200" y="1905000"/>
                  </a:lnTo>
                  <a:cubicBezTo>
                    <a:pt x="90976" y="1905000"/>
                    <a:pt x="0" y="1814024"/>
                    <a:pt x="0" y="1701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4FF"/>
            </a:solidFill>
            <a:ln w="19050" cap="sq">
              <a:solidFill>
                <a:srgbClr val="0055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981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2000250" y="6581775"/>
            <a:ext cx="1428750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1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Developers : vous rejoignez cette équipe</a:t>
            </a:r>
          </a:p>
          <a:p>
            <a:pPr algn="ctr">
              <a:lnSpc>
                <a:spcPts val="3360"/>
              </a:lnSpc>
            </a:pPr>
            <a:r>
              <a:rPr lang="en-US" sz="21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Lead technique · Frontend Angular · Backend Go · UX · Données · QA · DevOps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3000" y="9086850"/>
            <a:ext cx="1333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organigramme.pdf · cr_choix_méthode.pdf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76686" y="914400"/>
            <a:ext cx="13396814" cy="8113446"/>
          </a:xfrm>
          <a:custGeom>
            <a:avLst/>
            <a:gdLst/>
            <a:ahLst/>
            <a:cxnLst/>
            <a:rect r="r" b="b" t="t" l="l"/>
            <a:pathLst>
              <a:path h="8113446" w="13396814">
                <a:moveTo>
                  <a:pt x="0" y="0"/>
                </a:moveTo>
                <a:lnTo>
                  <a:pt x="13396814" y="0"/>
                </a:lnTo>
                <a:lnTo>
                  <a:pt x="13396814" y="8113446"/>
                </a:lnTo>
                <a:lnTo>
                  <a:pt x="0" y="8113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85900" y="866775"/>
            <a:ext cx="5715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01 · L'ÉQUIPE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9086850"/>
            <a:ext cx="1333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organigramme.pdf · miro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5715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01 · L'ÉQUIPE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Notre rythme : Scrum, sprints de 1 semaine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819400"/>
            <a:ext cx="57150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6B7280"/>
                </a:solidFill>
                <a:latin typeface="Arimo Bold"/>
                <a:ea typeface="Arimo Bold"/>
                <a:cs typeface="Arimo Bold"/>
                <a:sym typeface="Arimo Bold"/>
              </a:rPr>
              <a:t>UN SPRINT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848100"/>
            <a:ext cx="16002000" cy="19050"/>
            <a:chOff x="0" y="0"/>
            <a:chExt cx="213360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1D5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3286125"/>
            <a:ext cx="2857500" cy="1143000"/>
            <a:chOff x="0" y="0"/>
            <a:chExt cx="3810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203200" y="0"/>
                  </a:moveTo>
                  <a:lnTo>
                    <a:pt x="3606800" y="0"/>
                  </a:lnTo>
                  <a:cubicBezTo>
                    <a:pt x="3719024" y="0"/>
                    <a:pt x="3810000" y="90976"/>
                    <a:pt x="3810000" y="203200"/>
                  </a:cubicBezTo>
                  <a:lnTo>
                    <a:pt x="3810000" y="1320800"/>
                  </a:lnTo>
                  <a:cubicBezTo>
                    <a:pt x="3810000" y="1433024"/>
                    <a:pt x="3719024" y="1524000"/>
                    <a:pt x="3606800" y="1524000"/>
                  </a:cubicBezTo>
                  <a:lnTo>
                    <a:pt x="203200" y="1524000"/>
                  </a:lnTo>
                  <a:cubicBezTo>
                    <a:pt x="90976" y="1524000"/>
                    <a:pt x="0" y="1433024"/>
                    <a:pt x="0" y="1320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1D5D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1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38250" y="3438525"/>
            <a:ext cx="2667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Sprint Planning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2 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429125" y="3286125"/>
            <a:ext cx="2857500" cy="1143000"/>
            <a:chOff x="0" y="0"/>
            <a:chExt cx="3810000" cy="152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203200" y="0"/>
                  </a:moveTo>
                  <a:lnTo>
                    <a:pt x="3606800" y="0"/>
                  </a:lnTo>
                  <a:cubicBezTo>
                    <a:pt x="3719024" y="0"/>
                    <a:pt x="3810000" y="90976"/>
                    <a:pt x="3810000" y="203200"/>
                  </a:cubicBezTo>
                  <a:lnTo>
                    <a:pt x="3810000" y="1320800"/>
                  </a:lnTo>
                  <a:cubicBezTo>
                    <a:pt x="3810000" y="1433024"/>
                    <a:pt x="3719024" y="1524000"/>
                    <a:pt x="3606800" y="1524000"/>
                  </a:cubicBezTo>
                  <a:lnTo>
                    <a:pt x="203200" y="1524000"/>
                  </a:lnTo>
                  <a:cubicBezTo>
                    <a:pt x="90976" y="1524000"/>
                    <a:pt x="0" y="1433024"/>
                    <a:pt x="0" y="1320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1D5DB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524375" y="3438525"/>
            <a:ext cx="2667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Daily Scrum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15 min par jour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715250" y="3286125"/>
            <a:ext cx="2857500" cy="1143000"/>
            <a:chOff x="0" y="0"/>
            <a:chExt cx="3810000" cy="152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203200" y="0"/>
                  </a:moveTo>
                  <a:lnTo>
                    <a:pt x="3606800" y="0"/>
                  </a:lnTo>
                  <a:cubicBezTo>
                    <a:pt x="3719024" y="0"/>
                    <a:pt x="3810000" y="90976"/>
                    <a:pt x="3810000" y="203200"/>
                  </a:cubicBezTo>
                  <a:lnTo>
                    <a:pt x="3810000" y="1320800"/>
                  </a:lnTo>
                  <a:cubicBezTo>
                    <a:pt x="3810000" y="1433024"/>
                    <a:pt x="3719024" y="1524000"/>
                    <a:pt x="3606800" y="1524000"/>
                  </a:cubicBezTo>
                  <a:lnTo>
                    <a:pt x="203200" y="1524000"/>
                  </a:lnTo>
                  <a:cubicBezTo>
                    <a:pt x="90976" y="1524000"/>
                    <a:pt x="0" y="1433024"/>
                    <a:pt x="0" y="1320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4FF"/>
            </a:solidFill>
            <a:ln w="19050" cap="sq">
              <a:solidFill>
                <a:srgbClr val="0055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81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810500" y="3438525"/>
            <a:ext cx="2667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Code + tests + doc</a:t>
            </a:r>
          </a:p>
          <a:p>
            <a:pPr algn="ctr">
              <a:lnSpc>
                <a:spcPts val="2700"/>
              </a:lnSpc>
            </a:pPr>
            <a:r>
              <a:rPr lang="en-US" sz="18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dans le même ticket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001375" y="3286125"/>
            <a:ext cx="2857500" cy="1143000"/>
            <a:chOff x="0" y="0"/>
            <a:chExt cx="3810000" cy="152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203200" y="0"/>
                  </a:moveTo>
                  <a:lnTo>
                    <a:pt x="3606800" y="0"/>
                  </a:lnTo>
                  <a:cubicBezTo>
                    <a:pt x="3719024" y="0"/>
                    <a:pt x="3810000" y="90976"/>
                    <a:pt x="3810000" y="203200"/>
                  </a:cubicBezTo>
                  <a:lnTo>
                    <a:pt x="3810000" y="1320800"/>
                  </a:lnTo>
                  <a:cubicBezTo>
                    <a:pt x="3810000" y="1433024"/>
                    <a:pt x="3719024" y="1524000"/>
                    <a:pt x="3606800" y="1524000"/>
                  </a:cubicBezTo>
                  <a:lnTo>
                    <a:pt x="203200" y="1524000"/>
                  </a:lnTo>
                  <a:cubicBezTo>
                    <a:pt x="90976" y="1524000"/>
                    <a:pt x="0" y="1433024"/>
                    <a:pt x="0" y="1320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1D5DB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81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096625" y="3438525"/>
            <a:ext cx="2667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Sprint Review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1 h avec le directeur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287500" y="3286125"/>
            <a:ext cx="2857500" cy="1143000"/>
            <a:chOff x="0" y="0"/>
            <a:chExt cx="3810000" cy="152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203200" y="0"/>
                  </a:moveTo>
                  <a:lnTo>
                    <a:pt x="3606800" y="0"/>
                  </a:lnTo>
                  <a:cubicBezTo>
                    <a:pt x="3719024" y="0"/>
                    <a:pt x="3810000" y="90976"/>
                    <a:pt x="3810000" y="203200"/>
                  </a:cubicBezTo>
                  <a:lnTo>
                    <a:pt x="3810000" y="1320800"/>
                  </a:lnTo>
                  <a:cubicBezTo>
                    <a:pt x="3810000" y="1433024"/>
                    <a:pt x="3719024" y="1524000"/>
                    <a:pt x="3606800" y="1524000"/>
                  </a:cubicBezTo>
                  <a:lnTo>
                    <a:pt x="203200" y="1524000"/>
                  </a:lnTo>
                  <a:cubicBezTo>
                    <a:pt x="90976" y="1524000"/>
                    <a:pt x="0" y="1433024"/>
                    <a:pt x="0" y="1320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1D5DB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81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382750" y="3438525"/>
            <a:ext cx="2667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Rétrospective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1 h, en équipe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" y="5010150"/>
            <a:ext cx="57150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6B7280"/>
                </a:solidFill>
                <a:latin typeface="Arimo Bold"/>
                <a:ea typeface="Arimo Bold"/>
                <a:cs typeface="Arimo Bold"/>
                <a:sym typeface="Arimo Bold"/>
              </a:rPr>
              <a:t>LE TABLEAU JIRA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43000" y="5476875"/>
            <a:ext cx="2857500" cy="666750"/>
            <a:chOff x="0" y="0"/>
            <a:chExt cx="3810000" cy="889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1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810000">
                  <a:moveTo>
                    <a:pt x="444500" y="0"/>
                  </a:moveTo>
                  <a:lnTo>
                    <a:pt x="3365500" y="0"/>
                  </a:lnTo>
                  <a:cubicBezTo>
                    <a:pt x="3610990" y="0"/>
                    <a:pt x="3810000" y="199009"/>
                    <a:pt x="3810000" y="444500"/>
                  </a:cubicBezTo>
                  <a:lnTo>
                    <a:pt x="3810000" y="444500"/>
                  </a:lnTo>
                  <a:cubicBezTo>
                    <a:pt x="3810000" y="689991"/>
                    <a:pt x="3610990" y="889000"/>
                    <a:pt x="3365500" y="889000"/>
                  </a:cubicBezTo>
                  <a:lnTo>
                    <a:pt x="444500" y="889000"/>
                  </a:lnTo>
                  <a:cubicBezTo>
                    <a:pt x="199009" y="889000"/>
                    <a:pt x="0" y="689991"/>
                    <a:pt x="0" y="444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810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38250" y="5610225"/>
            <a:ext cx="2667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À faire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4429125" y="5476875"/>
            <a:ext cx="2857500" cy="666750"/>
            <a:chOff x="0" y="0"/>
            <a:chExt cx="3810000" cy="889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1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810000">
                  <a:moveTo>
                    <a:pt x="444500" y="0"/>
                  </a:moveTo>
                  <a:lnTo>
                    <a:pt x="3365500" y="0"/>
                  </a:lnTo>
                  <a:cubicBezTo>
                    <a:pt x="3610990" y="0"/>
                    <a:pt x="3810000" y="199009"/>
                    <a:pt x="3810000" y="444500"/>
                  </a:cubicBezTo>
                  <a:lnTo>
                    <a:pt x="3810000" y="444500"/>
                  </a:lnTo>
                  <a:cubicBezTo>
                    <a:pt x="3810000" y="689991"/>
                    <a:pt x="3610990" y="889000"/>
                    <a:pt x="3365500" y="889000"/>
                  </a:cubicBezTo>
                  <a:lnTo>
                    <a:pt x="444500" y="889000"/>
                  </a:lnTo>
                  <a:cubicBezTo>
                    <a:pt x="199009" y="889000"/>
                    <a:pt x="0" y="689991"/>
                    <a:pt x="0" y="444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810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4524375" y="5610225"/>
            <a:ext cx="2667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En développement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715250" y="5476875"/>
            <a:ext cx="2857500" cy="666750"/>
            <a:chOff x="0" y="0"/>
            <a:chExt cx="3810000" cy="889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1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810000">
                  <a:moveTo>
                    <a:pt x="444500" y="0"/>
                  </a:moveTo>
                  <a:lnTo>
                    <a:pt x="3365500" y="0"/>
                  </a:lnTo>
                  <a:cubicBezTo>
                    <a:pt x="3610990" y="0"/>
                    <a:pt x="3810000" y="199009"/>
                    <a:pt x="3810000" y="444500"/>
                  </a:cubicBezTo>
                  <a:lnTo>
                    <a:pt x="3810000" y="444500"/>
                  </a:lnTo>
                  <a:cubicBezTo>
                    <a:pt x="3810000" y="689991"/>
                    <a:pt x="3610990" y="889000"/>
                    <a:pt x="3365500" y="889000"/>
                  </a:cubicBezTo>
                  <a:lnTo>
                    <a:pt x="444500" y="889000"/>
                  </a:lnTo>
                  <a:cubicBezTo>
                    <a:pt x="199009" y="889000"/>
                    <a:pt x="0" y="689991"/>
                    <a:pt x="0" y="444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810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810500" y="5610225"/>
            <a:ext cx="2667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En revue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001375" y="5476875"/>
            <a:ext cx="2857500" cy="666750"/>
            <a:chOff x="0" y="0"/>
            <a:chExt cx="3810000" cy="889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1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810000">
                  <a:moveTo>
                    <a:pt x="444500" y="0"/>
                  </a:moveTo>
                  <a:lnTo>
                    <a:pt x="3365500" y="0"/>
                  </a:lnTo>
                  <a:cubicBezTo>
                    <a:pt x="3610990" y="0"/>
                    <a:pt x="3810000" y="199009"/>
                    <a:pt x="3810000" y="444500"/>
                  </a:cubicBezTo>
                  <a:lnTo>
                    <a:pt x="3810000" y="444500"/>
                  </a:lnTo>
                  <a:cubicBezTo>
                    <a:pt x="3810000" y="689991"/>
                    <a:pt x="3610990" y="889000"/>
                    <a:pt x="3365500" y="889000"/>
                  </a:cubicBezTo>
                  <a:lnTo>
                    <a:pt x="444500" y="889000"/>
                  </a:lnTo>
                  <a:cubicBezTo>
                    <a:pt x="199009" y="889000"/>
                    <a:pt x="0" y="689991"/>
                    <a:pt x="0" y="444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810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096625" y="5610225"/>
            <a:ext cx="2667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En test et validation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4287500" y="5476875"/>
            <a:ext cx="2857500" cy="666750"/>
            <a:chOff x="0" y="0"/>
            <a:chExt cx="3810000" cy="889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1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810000">
                  <a:moveTo>
                    <a:pt x="444500" y="0"/>
                  </a:moveTo>
                  <a:lnTo>
                    <a:pt x="3365500" y="0"/>
                  </a:lnTo>
                  <a:cubicBezTo>
                    <a:pt x="3610990" y="0"/>
                    <a:pt x="3810000" y="199009"/>
                    <a:pt x="3810000" y="444500"/>
                  </a:cubicBezTo>
                  <a:lnTo>
                    <a:pt x="3810000" y="444500"/>
                  </a:lnTo>
                  <a:cubicBezTo>
                    <a:pt x="3810000" y="689991"/>
                    <a:pt x="3610990" y="889000"/>
                    <a:pt x="3365500" y="889000"/>
                  </a:cubicBezTo>
                  <a:lnTo>
                    <a:pt x="444500" y="889000"/>
                  </a:lnTo>
                  <a:cubicBezTo>
                    <a:pt x="199009" y="889000"/>
                    <a:pt x="0" y="689991"/>
                    <a:pt x="0" y="444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810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4382750" y="5610225"/>
            <a:ext cx="2667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Terminé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143000" y="6858000"/>
            <a:ext cx="16002000" cy="1428750"/>
            <a:chOff x="0" y="0"/>
            <a:chExt cx="21336000" cy="1905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33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336000">
                  <a:moveTo>
                    <a:pt x="203200" y="0"/>
                  </a:moveTo>
                  <a:lnTo>
                    <a:pt x="21132800" y="0"/>
                  </a:lnTo>
                  <a:cubicBezTo>
                    <a:pt x="21245024" y="0"/>
                    <a:pt x="21336000" y="90976"/>
                    <a:pt x="21336000" y="203200"/>
                  </a:cubicBezTo>
                  <a:lnTo>
                    <a:pt x="21336000" y="1701800"/>
                  </a:lnTo>
                  <a:cubicBezTo>
                    <a:pt x="21336000" y="1814024"/>
                    <a:pt x="21245024" y="1905000"/>
                    <a:pt x="21132800" y="1905000"/>
                  </a:cubicBezTo>
                  <a:lnTo>
                    <a:pt x="203200" y="1905000"/>
                  </a:lnTo>
                  <a:cubicBezTo>
                    <a:pt x="90976" y="1905000"/>
                    <a:pt x="0" y="1814024"/>
                    <a:pt x="0" y="1701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1336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524000" y="7067550"/>
            <a:ext cx="1524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Definition of Done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24000" y="7620000"/>
            <a:ext cx="1524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Critères d'acceptation validés · code revu · tests verts · refus d'accès testés · documentation à jour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43000" y="9086850"/>
            <a:ext cx="1428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cr_choix_méthode.pdf · Jira (backlog, sprints) · Confluence (comptes rendus)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02 · LES FONCTIONNALITÉS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Deux espaces, 15 exigences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2857500"/>
            <a:ext cx="7810500" cy="4572000"/>
            <a:chOff x="0" y="0"/>
            <a:chExt cx="10414000" cy="609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14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414000">
                  <a:moveTo>
                    <a:pt x="203200" y="0"/>
                  </a:moveTo>
                  <a:lnTo>
                    <a:pt x="10210800" y="0"/>
                  </a:lnTo>
                  <a:cubicBezTo>
                    <a:pt x="10323024" y="0"/>
                    <a:pt x="10414000" y="90976"/>
                    <a:pt x="10414000" y="203200"/>
                  </a:cubicBezTo>
                  <a:lnTo>
                    <a:pt x="10414000" y="5892800"/>
                  </a:lnTo>
                  <a:cubicBezTo>
                    <a:pt x="10414000" y="6005024"/>
                    <a:pt x="10323024" y="6096000"/>
                    <a:pt x="10210800" y="6096000"/>
                  </a:cubicBezTo>
                  <a:lnTo>
                    <a:pt x="203200" y="6096000"/>
                  </a:lnTo>
                  <a:cubicBezTo>
                    <a:pt x="90976" y="6096000"/>
                    <a:pt x="0" y="6005024"/>
                    <a:pt x="0" y="5892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414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19250" y="3171825"/>
            <a:ext cx="68580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Espace étudiant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9250" y="3829050"/>
            <a:ext cx="7048500" cy="262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Connexion Google La Plateforme EF-01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Consulter les projets et s'inscrire EF-02, 03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Déposer un rendu, seul ou en groupe EF-04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Gérer ses informations EF-05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Consulter ses compétences EF-06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34500" y="2857500"/>
            <a:ext cx="7810500" cy="4572000"/>
            <a:chOff x="0" y="0"/>
            <a:chExt cx="10414000" cy="609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14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414000">
                  <a:moveTo>
                    <a:pt x="203200" y="0"/>
                  </a:moveTo>
                  <a:lnTo>
                    <a:pt x="10210800" y="0"/>
                  </a:lnTo>
                  <a:cubicBezTo>
                    <a:pt x="10323024" y="0"/>
                    <a:pt x="10414000" y="90976"/>
                    <a:pt x="10414000" y="203200"/>
                  </a:cubicBezTo>
                  <a:lnTo>
                    <a:pt x="10414000" y="5892800"/>
                  </a:lnTo>
                  <a:cubicBezTo>
                    <a:pt x="10414000" y="6005024"/>
                    <a:pt x="10323024" y="6096000"/>
                    <a:pt x="10210800" y="6096000"/>
                  </a:cubicBezTo>
                  <a:lnTo>
                    <a:pt x="203200" y="6096000"/>
                  </a:lnTo>
                  <a:cubicBezTo>
                    <a:pt x="90976" y="6096000"/>
                    <a:pt x="0" y="6005024"/>
                    <a:pt x="0" y="5892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14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810750" y="3171825"/>
            <a:ext cx="68580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Espace équipe pédagogique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10750" y="3829050"/>
            <a:ext cx="7048500" cy="262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Promotions, étudiants, UF, projets EF-07 à 10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Créer et valider les groupes EF-11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Suivre les projets et les rendus EF-12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Suivre les temps de log EF-13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Statistiques par promotion EF-14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43000" y="7715250"/>
            <a:ext cx="16002000" cy="952500"/>
            <a:chOff x="0" y="0"/>
            <a:chExt cx="21336000" cy="127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203200" y="0"/>
                  </a:moveTo>
                  <a:lnTo>
                    <a:pt x="21132800" y="0"/>
                  </a:lnTo>
                  <a:cubicBezTo>
                    <a:pt x="21245024" y="0"/>
                    <a:pt x="21336000" y="90976"/>
                    <a:pt x="21336000" y="203200"/>
                  </a:cubicBezTo>
                  <a:lnTo>
                    <a:pt x="21336000" y="1066800"/>
                  </a:lnTo>
                  <a:cubicBezTo>
                    <a:pt x="21336000" y="1179024"/>
                    <a:pt x="21245024" y="1270000"/>
                    <a:pt x="21132800" y="1270000"/>
                  </a:cubicBezTo>
                  <a:lnTo>
                    <a:pt x="203200" y="1270000"/>
                  </a:lnTo>
                  <a:cubicBezTo>
                    <a:pt x="90976" y="1270000"/>
                    <a:pt x="0" y="1179024"/>
                    <a:pt x="0" y="106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24000" y="7981950"/>
            <a:ext cx="15240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EF-15 · Chaque action est autorisée côté serveur selon le rôle et la promotion de l'utilisateur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3000" y="9086850"/>
            <a:ext cx="1428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cahier_des_charges.pdf (exigences, matrice d'accès) · diagramme de cas d'utilisation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7239000"/>
            <a:ext cx="57150" cy="800100"/>
            <a:chOff x="0" y="0"/>
            <a:chExt cx="76200" cy="1066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62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811907" y="2140633"/>
            <a:ext cx="7882755" cy="7247207"/>
          </a:xfrm>
          <a:custGeom>
            <a:avLst/>
            <a:gdLst/>
            <a:ahLst/>
            <a:cxnLst/>
            <a:rect r="r" b="b" t="t" l="l"/>
            <a:pathLst>
              <a:path h="7247207" w="7882755">
                <a:moveTo>
                  <a:pt x="0" y="0"/>
                </a:moveTo>
                <a:lnTo>
                  <a:pt x="7882755" y="0"/>
                </a:lnTo>
                <a:lnTo>
                  <a:pt x="7882755" y="7247207"/>
                </a:lnTo>
                <a:lnTo>
                  <a:pt x="0" y="7247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02 · LES FONCTIONNALITÉS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Six rôles, des droits différents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2686050"/>
            <a:ext cx="7810500" cy="315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Étudiant : ses projets, rendus et compétences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Responsable : gère ses promotions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Accompagnateur : suit ses étudiants, en lecture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Intervenant externe : évalue sa mission, accès daté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Direction : statistiques de son périmètre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Administrateur : superadmin, gère les rôles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50" y="7258050"/>
            <a:ext cx="74295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Un seul type d'utilisateur : le rôle est une habilitation datée, liée à une promotion.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9086850"/>
            <a:ext cx="8572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cas d'utilisation (Lucid) · matrice d'accès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02 · LES FONCTIONNALITÉS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L'architecture en un coup d'œil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381500" y="4133850"/>
            <a:ext cx="9525000" cy="19050"/>
            <a:chOff x="0" y="0"/>
            <a:chExt cx="127000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00000" cy="25400"/>
            </a:xfrm>
            <a:custGeom>
              <a:avLst/>
              <a:gdLst/>
              <a:ahLst/>
              <a:cxnLst/>
              <a:rect r="r" b="b" t="t" l="l"/>
              <a:pathLst>
                <a:path h="25400" w="12700000">
                  <a:moveTo>
                    <a:pt x="0" y="0"/>
                  </a:moveTo>
                  <a:lnTo>
                    <a:pt x="12700000" y="0"/>
                  </a:lnTo>
                  <a:lnTo>
                    <a:pt x="1270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70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3238500"/>
            <a:ext cx="3238500" cy="1809750"/>
            <a:chOff x="0" y="0"/>
            <a:chExt cx="4318000" cy="241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18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318000">
                  <a:moveTo>
                    <a:pt x="203200" y="0"/>
                  </a:moveTo>
                  <a:lnTo>
                    <a:pt x="4114800" y="0"/>
                  </a:lnTo>
                  <a:cubicBezTo>
                    <a:pt x="4227024" y="0"/>
                    <a:pt x="4318000" y="90976"/>
                    <a:pt x="4318000" y="203200"/>
                  </a:cubicBezTo>
                  <a:lnTo>
                    <a:pt x="4318000" y="2209800"/>
                  </a:lnTo>
                  <a:cubicBezTo>
                    <a:pt x="4318000" y="2322024"/>
                    <a:pt x="4227024" y="2413000"/>
                    <a:pt x="4114800" y="2413000"/>
                  </a:cubicBezTo>
                  <a:lnTo>
                    <a:pt x="203200" y="2413000"/>
                  </a:lnTo>
                  <a:cubicBezTo>
                    <a:pt x="90976" y="2413000"/>
                    <a:pt x="0" y="2322024"/>
                    <a:pt x="0" y="2209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1D5D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18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33500" y="3609975"/>
            <a:ext cx="2857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Navigateur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3500" y="4181475"/>
            <a:ext cx="285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SPA Angular / TypeScript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334000" y="3238500"/>
            <a:ext cx="3238500" cy="1809750"/>
            <a:chOff x="0" y="0"/>
            <a:chExt cx="4318000" cy="241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18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318000">
                  <a:moveTo>
                    <a:pt x="203200" y="0"/>
                  </a:moveTo>
                  <a:lnTo>
                    <a:pt x="4114800" y="0"/>
                  </a:lnTo>
                  <a:cubicBezTo>
                    <a:pt x="4227024" y="0"/>
                    <a:pt x="4318000" y="90976"/>
                    <a:pt x="4318000" y="203200"/>
                  </a:cubicBezTo>
                  <a:lnTo>
                    <a:pt x="4318000" y="2209800"/>
                  </a:lnTo>
                  <a:cubicBezTo>
                    <a:pt x="4318000" y="2322024"/>
                    <a:pt x="4227024" y="2413000"/>
                    <a:pt x="4114800" y="2413000"/>
                  </a:cubicBezTo>
                  <a:lnTo>
                    <a:pt x="203200" y="2413000"/>
                  </a:lnTo>
                  <a:cubicBezTo>
                    <a:pt x="90976" y="2413000"/>
                    <a:pt x="0" y="2322024"/>
                    <a:pt x="0" y="2209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1D5DB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318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524500" y="3609975"/>
            <a:ext cx="2857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Reverse proxy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24500" y="4181475"/>
            <a:ext cx="285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HTTPS, même origine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25000" y="3238500"/>
            <a:ext cx="3429000" cy="1809750"/>
            <a:chOff x="0" y="0"/>
            <a:chExt cx="4572000" cy="241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203200" y="0"/>
                  </a:moveTo>
                  <a:lnTo>
                    <a:pt x="4368800" y="0"/>
                  </a:lnTo>
                  <a:cubicBezTo>
                    <a:pt x="4481024" y="0"/>
                    <a:pt x="4572000" y="90976"/>
                    <a:pt x="4572000" y="203200"/>
                  </a:cubicBezTo>
                  <a:lnTo>
                    <a:pt x="4572000" y="2209800"/>
                  </a:lnTo>
                  <a:cubicBezTo>
                    <a:pt x="4572000" y="2322024"/>
                    <a:pt x="4481024" y="2413000"/>
                    <a:pt x="4368800" y="2413000"/>
                  </a:cubicBezTo>
                  <a:lnTo>
                    <a:pt x="203200" y="2413000"/>
                  </a:lnTo>
                  <a:cubicBezTo>
                    <a:pt x="90976" y="2413000"/>
                    <a:pt x="0" y="2322024"/>
                    <a:pt x="0" y="2209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4FF"/>
            </a:solidFill>
            <a:ln w="19050" cap="sq">
              <a:solidFill>
                <a:srgbClr val="0055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572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715500" y="3609975"/>
            <a:ext cx="30480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API Go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15500" y="4181475"/>
            <a:ext cx="3048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Monolithe modulaire, REST JSON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906500" y="3238500"/>
            <a:ext cx="3238500" cy="1809750"/>
            <a:chOff x="0" y="0"/>
            <a:chExt cx="4318000" cy="2413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18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318000">
                  <a:moveTo>
                    <a:pt x="203200" y="0"/>
                  </a:moveTo>
                  <a:lnTo>
                    <a:pt x="4114800" y="0"/>
                  </a:lnTo>
                  <a:cubicBezTo>
                    <a:pt x="4227024" y="0"/>
                    <a:pt x="4318000" y="90976"/>
                    <a:pt x="4318000" y="203200"/>
                  </a:cubicBezTo>
                  <a:lnTo>
                    <a:pt x="4318000" y="2209800"/>
                  </a:lnTo>
                  <a:cubicBezTo>
                    <a:pt x="4318000" y="2322024"/>
                    <a:pt x="4227024" y="2413000"/>
                    <a:pt x="4114800" y="2413000"/>
                  </a:cubicBezTo>
                  <a:lnTo>
                    <a:pt x="203200" y="2413000"/>
                  </a:lnTo>
                  <a:cubicBezTo>
                    <a:pt x="90976" y="2413000"/>
                    <a:pt x="0" y="2322024"/>
                    <a:pt x="0" y="2209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1D5D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318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097000" y="3609975"/>
            <a:ext cx="2857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PostgreSQL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97000" y="4181475"/>
            <a:ext cx="285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Données et règles d'intégrité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229975" y="5048250"/>
            <a:ext cx="19050" cy="1047750"/>
            <a:chOff x="0" y="0"/>
            <a:chExt cx="25400" cy="139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54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000375" y="6096000"/>
            <a:ext cx="12287250" cy="19050"/>
            <a:chOff x="0" y="0"/>
            <a:chExt cx="16383000" cy="25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383000" cy="25400"/>
            </a:xfrm>
            <a:custGeom>
              <a:avLst/>
              <a:gdLst/>
              <a:ahLst/>
              <a:cxnLst/>
              <a:rect r="r" b="b" t="t" l="l"/>
              <a:pathLst>
                <a:path h="25400" w="16383000">
                  <a:moveTo>
                    <a:pt x="0" y="0"/>
                  </a:moveTo>
                  <a:lnTo>
                    <a:pt x="16383000" y="0"/>
                  </a:lnTo>
                  <a:lnTo>
                    <a:pt x="16383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6383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000375" y="6096000"/>
            <a:ext cx="19050" cy="381000"/>
            <a:chOff x="0" y="0"/>
            <a:chExt cx="25400" cy="508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400" cy="508000"/>
            </a:xfrm>
            <a:custGeom>
              <a:avLst/>
              <a:gdLst/>
              <a:ahLst/>
              <a:cxnLst/>
              <a:rect r="r" b="b" t="t" l="l"/>
              <a:pathLst>
                <a:path h="508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5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096125" y="6096000"/>
            <a:ext cx="19050" cy="381000"/>
            <a:chOff x="0" y="0"/>
            <a:chExt cx="25400" cy="508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400" cy="508000"/>
            </a:xfrm>
            <a:custGeom>
              <a:avLst/>
              <a:gdLst/>
              <a:ahLst/>
              <a:cxnLst/>
              <a:rect r="r" b="b" t="t" l="l"/>
              <a:pathLst>
                <a:path h="508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5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191875" y="6096000"/>
            <a:ext cx="19050" cy="381000"/>
            <a:chOff x="0" y="0"/>
            <a:chExt cx="25400" cy="508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400" cy="508000"/>
            </a:xfrm>
            <a:custGeom>
              <a:avLst/>
              <a:gdLst/>
              <a:ahLst/>
              <a:cxnLst/>
              <a:rect r="r" b="b" t="t" l="l"/>
              <a:pathLst>
                <a:path h="508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5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268575" y="6096000"/>
            <a:ext cx="19050" cy="381000"/>
            <a:chOff x="0" y="0"/>
            <a:chExt cx="25400" cy="508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400" cy="508000"/>
            </a:xfrm>
            <a:custGeom>
              <a:avLst/>
              <a:gdLst/>
              <a:ahLst/>
              <a:cxnLst/>
              <a:rect r="r" b="b" t="t" l="l"/>
              <a:pathLst>
                <a:path h="508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9CA3A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5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43000" y="6477000"/>
            <a:ext cx="3714750" cy="1238250"/>
            <a:chOff x="0" y="0"/>
            <a:chExt cx="4953000" cy="1651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53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953000">
                  <a:moveTo>
                    <a:pt x="203200" y="0"/>
                  </a:moveTo>
                  <a:lnTo>
                    <a:pt x="4749800" y="0"/>
                  </a:lnTo>
                  <a:cubicBezTo>
                    <a:pt x="4862024" y="0"/>
                    <a:pt x="4953000" y="90976"/>
                    <a:pt x="4953000" y="203200"/>
                  </a:cubicBezTo>
                  <a:lnTo>
                    <a:pt x="4953000" y="1447800"/>
                  </a:lnTo>
                  <a:cubicBezTo>
                    <a:pt x="4953000" y="1560024"/>
                    <a:pt x="4862024" y="1651000"/>
                    <a:pt x="4749800" y="1651000"/>
                  </a:cubicBezTo>
                  <a:lnTo>
                    <a:pt x="203200" y="1651000"/>
                  </a:lnTo>
                  <a:cubicBezTo>
                    <a:pt x="90976" y="1651000"/>
                    <a:pt x="0" y="1560024"/>
                    <a:pt x="0" y="144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953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85875" y="6677025"/>
            <a:ext cx="3429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Google OIDC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Connexion @laplateforme.io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5238750" y="6477000"/>
            <a:ext cx="3714750" cy="1238250"/>
            <a:chOff x="0" y="0"/>
            <a:chExt cx="4953000" cy="1651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53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953000">
                  <a:moveTo>
                    <a:pt x="203200" y="0"/>
                  </a:moveTo>
                  <a:lnTo>
                    <a:pt x="4749800" y="0"/>
                  </a:lnTo>
                  <a:cubicBezTo>
                    <a:pt x="4862024" y="0"/>
                    <a:pt x="4953000" y="90976"/>
                    <a:pt x="4953000" y="203200"/>
                  </a:cubicBezTo>
                  <a:lnTo>
                    <a:pt x="4953000" y="1447800"/>
                  </a:lnTo>
                  <a:cubicBezTo>
                    <a:pt x="4953000" y="1560024"/>
                    <a:pt x="4862024" y="1651000"/>
                    <a:pt x="4749800" y="1651000"/>
                  </a:cubicBezTo>
                  <a:lnTo>
                    <a:pt x="203200" y="1651000"/>
                  </a:lnTo>
                  <a:cubicBezTo>
                    <a:pt x="90976" y="1651000"/>
                    <a:pt x="0" y="1560024"/>
                    <a:pt x="0" y="144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953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5381625" y="6677025"/>
            <a:ext cx="3429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Stockage S3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Fichiers, URL signées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334500" y="6477000"/>
            <a:ext cx="3714750" cy="1238250"/>
            <a:chOff x="0" y="0"/>
            <a:chExt cx="4953000" cy="1651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53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953000">
                  <a:moveTo>
                    <a:pt x="203200" y="0"/>
                  </a:moveTo>
                  <a:lnTo>
                    <a:pt x="4749800" y="0"/>
                  </a:lnTo>
                  <a:cubicBezTo>
                    <a:pt x="4862024" y="0"/>
                    <a:pt x="4953000" y="90976"/>
                    <a:pt x="4953000" y="203200"/>
                  </a:cubicBezTo>
                  <a:lnTo>
                    <a:pt x="4953000" y="1447800"/>
                  </a:lnTo>
                  <a:cubicBezTo>
                    <a:pt x="4953000" y="1560024"/>
                    <a:pt x="4862024" y="1651000"/>
                    <a:pt x="4749800" y="1651000"/>
                  </a:cubicBezTo>
                  <a:lnTo>
                    <a:pt x="203200" y="1651000"/>
                  </a:lnTo>
                  <a:cubicBezTo>
                    <a:pt x="90976" y="1651000"/>
                    <a:pt x="0" y="1560024"/>
                    <a:pt x="0" y="144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953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477375" y="6677025"/>
            <a:ext cx="3429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E-mail transactionnel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Notifications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3430250" y="6477000"/>
            <a:ext cx="3714750" cy="1238250"/>
            <a:chOff x="0" y="0"/>
            <a:chExt cx="4953000" cy="1651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953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953000">
                  <a:moveTo>
                    <a:pt x="203200" y="0"/>
                  </a:moveTo>
                  <a:lnTo>
                    <a:pt x="4749800" y="0"/>
                  </a:lnTo>
                  <a:cubicBezTo>
                    <a:pt x="4862024" y="0"/>
                    <a:pt x="4953000" y="90976"/>
                    <a:pt x="4953000" y="203200"/>
                  </a:cubicBezTo>
                  <a:lnTo>
                    <a:pt x="4953000" y="1447800"/>
                  </a:lnTo>
                  <a:cubicBezTo>
                    <a:pt x="4953000" y="1560024"/>
                    <a:pt x="4862024" y="1651000"/>
                    <a:pt x="4749800" y="1651000"/>
                  </a:cubicBezTo>
                  <a:lnTo>
                    <a:pt x="203200" y="1651000"/>
                  </a:lnTo>
                  <a:cubicBezTo>
                    <a:pt x="90976" y="1651000"/>
                    <a:pt x="0" y="1560024"/>
                    <a:pt x="0" y="144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953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3573125" y="6677025"/>
            <a:ext cx="3429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Supervision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Sentry · Grafana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43000" y="5581650"/>
            <a:ext cx="38100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6B7280"/>
                </a:solidFill>
                <a:latin typeface="Arimo Bold"/>
                <a:ea typeface="Arimo Bold"/>
                <a:cs typeface="Arimo Bold"/>
                <a:sym typeface="Arimo Bold"/>
              </a:rPr>
              <a:t>SERVICES TIERS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43000" y="9086850"/>
            <a:ext cx="15049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dossier d'architecture technique (Confluence) · diagrammes de composants et de déploiement · ADR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63250" y="7239000"/>
            <a:ext cx="6381750" cy="1619250"/>
            <a:chOff x="0" y="0"/>
            <a:chExt cx="8509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0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8509000">
                  <a:moveTo>
                    <a:pt x="203200" y="0"/>
                  </a:moveTo>
                  <a:lnTo>
                    <a:pt x="8305800" y="0"/>
                  </a:lnTo>
                  <a:cubicBezTo>
                    <a:pt x="8418024" y="0"/>
                    <a:pt x="8509000" y="90976"/>
                    <a:pt x="8509000" y="203200"/>
                  </a:cubicBezTo>
                  <a:lnTo>
                    <a:pt x="8509000" y="1955800"/>
                  </a:lnTo>
                  <a:cubicBezTo>
                    <a:pt x="8509000" y="2068024"/>
                    <a:pt x="8418024" y="2159000"/>
                    <a:pt x="8305800" y="2159000"/>
                  </a:cubicBezTo>
                  <a:lnTo>
                    <a:pt x="203200" y="2159000"/>
                  </a:lnTo>
                  <a:cubicBezTo>
                    <a:pt x="90976" y="2159000"/>
                    <a:pt x="0" y="2068024"/>
                    <a:pt x="0" y="1955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0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43000" y="2461260"/>
            <a:ext cx="8618744" cy="6501765"/>
          </a:xfrm>
          <a:custGeom>
            <a:avLst/>
            <a:gdLst/>
            <a:ahLst/>
            <a:cxnLst/>
            <a:rect r="r" b="b" t="t" l="l"/>
            <a:pathLst>
              <a:path h="6501765" w="8618744">
                <a:moveTo>
                  <a:pt x="0" y="0"/>
                </a:moveTo>
                <a:lnTo>
                  <a:pt x="8618744" y="0"/>
                </a:lnTo>
                <a:lnTo>
                  <a:pt x="8618744" y="6501765"/>
                </a:lnTo>
                <a:lnTo>
                  <a:pt x="0" y="65017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03 · LA BASE DE DONNÉES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PostgreSQL : 17 tables, des règles garanties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63250" y="2514600"/>
            <a:ext cx="638175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Ce que la base garantit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63250" y="3067050"/>
            <a:ext cx="6381750" cy="244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390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Une inscription par étudiant et par projet</a:t>
            </a:r>
          </a:p>
          <a:p>
            <a:pPr algn="l" marL="421005" indent="-210502" lvl="1">
              <a:lnSpc>
                <a:spcPts val="390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Un rendu = un étudiant OU un groupe</a:t>
            </a:r>
          </a:p>
          <a:p>
            <a:pPr algn="l" marL="421005" indent="-210502" lvl="1">
              <a:lnSpc>
                <a:spcPts val="390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Un seul groupe courant, historique conservé</a:t>
            </a:r>
          </a:p>
          <a:p>
            <a:pPr algn="l" marL="421005" indent="-210502" lvl="1">
              <a:lnSpc>
                <a:spcPts val="390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Un résultat par compétence et par projet</a:t>
            </a:r>
          </a:p>
          <a:p>
            <a:pPr algn="l" marL="421005" indent="-210502" lvl="1">
              <a:lnSpc>
                <a:spcPts val="390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Pas de suppression en cascade : on archive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49000" y="7419975"/>
            <a:ext cx="581025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Vous modifiez le schéma ? Une migration versionnée, relue et testée en CI, et le dictionnaire de données mis à jour.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9191625"/>
            <a:ext cx="1428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database_scheme.pdf (MCD, MLD, MPD) · DAT  Base de données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TRAÇABILITÉ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De l'exigence au test : un exemple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2857500"/>
            <a:ext cx="4762500" cy="3810000"/>
            <a:chOff x="0" y="0"/>
            <a:chExt cx="6350000" cy="508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6350000">
                  <a:moveTo>
                    <a:pt x="203200" y="0"/>
                  </a:moveTo>
                  <a:lnTo>
                    <a:pt x="6146800" y="0"/>
                  </a:lnTo>
                  <a:cubicBezTo>
                    <a:pt x="6259024" y="0"/>
                    <a:pt x="6350000" y="90976"/>
                    <a:pt x="6350000" y="203200"/>
                  </a:cubicBezTo>
                  <a:lnTo>
                    <a:pt x="6350000" y="4876800"/>
                  </a:lnTo>
                  <a:cubicBezTo>
                    <a:pt x="6350000" y="4989024"/>
                    <a:pt x="6259024" y="5080000"/>
                    <a:pt x="6146800" y="5080000"/>
                  </a:cubicBezTo>
                  <a:lnTo>
                    <a:pt x="203200" y="5080000"/>
                  </a:lnTo>
                  <a:cubicBezTo>
                    <a:pt x="90976" y="5080000"/>
                    <a:pt x="0" y="4989024"/>
                    <a:pt x="0" y="487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0" cy="511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24000" y="3152775"/>
            <a:ext cx="4000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1 · EXIGENCE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4000" y="3629025"/>
            <a:ext cx="400050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EF-03</a:t>
            </a:r>
          </a:p>
          <a:p>
            <a:pPr algn="l">
              <a:lnSpc>
                <a:spcPts val="3120"/>
              </a:lnSpc>
            </a:pPr>
            <a:r>
              <a:rPr lang="en-US" sz="24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S'inscrire à un projet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4772025"/>
            <a:ext cx="400050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Un étudiant actif s'inscrit une seule fois à un projet ouvert de sa promotion.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48375" y="4667250"/>
            <a:ext cx="57150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62750" y="2857500"/>
            <a:ext cx="4762500" cy="3810000"/>
            <a:chOff x="0" y="0"/>
            <a:chExt cx="6350000" cy="508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6350000">
                  <a:moveTo>
                    <a:pt x="203200" y="0"/>
                  </a:moveTo>
                  <a:lnTo>
                    <a:pt x="6146800" y="0"/>
                  </a:lnTo>
                  <a:cubicBezTo>
                    <a:pt x="6259024" y="0"/>
                    <a:pt x="6350000" y="90976"/>
                    <a:pt x="6350000" y="203200"/>
                  </a:cubicBezTo>
                  <a:lnTo>
                    <a:pt x="6350000" y="4876800"/>
                  </a:lnTo>
                  <a:cubicBezTo>
                    <a:pt x="6350000" y="4989024"/>
                    <a:pt x="6259024" y="5080000"/>
                    <a:pt x="6146800" y="5080000"/>
                  </a:cubicBezTo>
                  <a:lnTo>
                    <a:pt x="203200" y="5080000"/>
                  </a:lnTo>
                  <a:cubicBezTo>
                    <a:pt x="90976" y="5080000"/>
                    <a:pt x="0" y="4989024"/>
                    <a:pt x="0" y="487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350000" cy="511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143750" y="3152775"/>
            <a:ext cx="4000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2 · CONCEPTION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3750" y="3629025"/>
            <a:ext cx="40005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Base et API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43750" y="4772025"/>
            <a:ext cx="4095750" cy="1442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UNIQUE (user_id, project_id) sur participation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POST /projects/{id}/participations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Contrôle d'accès côté serveur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68125" y="4667250"/>
            <a:ext cx="57150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82500" y="2857500"/>
            <a:ext cx="4762500" cy="3810000"/>
            <a:chOff x="0" y="0"/>
            <a:chExt cx="6350000" cy="508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6350000">
                  <a:moveTo>
                    <a:pt x="203200" y="0"/>
                  </a:moveTo>
                  <a:lnTo>
                    <a:pt x="6146800" y="0"/>
                  </a:lnTo>
                  <a:cubicBezTo>
                    <a:pt x="6259024" y="0"/>
                    <a:pt x="6350000" y="90976"/>
                    <a:pt x="6350000" y="203200"/>
                  </a:cubicBezTo>
                  <a:lnTo>
                    <a:pt x="6350000" y="4876800"/>
                  </a:lnTo>
                  <a:cubicBezTo>
                    <a:pt x="6350000" y="4989024"/>
                    <a:pt x="6259024" y="5080000"/>
                    <a:pt x="6146800" y="5080000"/>
                  </a:cubicBezTo>
                  <a:lnTo>
                    <a:pt x="203200" y="5080000"/>
                  </a:lnTo>
                  <a:cubicBezTo>
                    <a:pt x="90976" y="5080000"/>
                    <a:pt x="0" y="4989024"/>
                    <a:pt x="0" y="487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4FF"/>
            </a:solidFill>
            <a:ln w="19050" cap="sq">
              <a:solidFill>
                <a:srgbClr val="0055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350000" cy="511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763500" y="3152775"/>
            <a:ext cx="4000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3 · RECETTE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63500" y="3629025"/>
            <a:ext cx="40005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Cahier de recettes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63500" y="4772025"/>
            <a:ext cx="4095750" cy="1442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REC-INS-01 inscription acceptée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REC-INS-02 double clic : une seule inscription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REC-INS-03 projet fermé : refus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43000" y="7334250"/>
            <a:ext cx="57150" cy="476250"/>
            <a:chOff x="0" y="0"/>
            <a:chExt cx="76200" cy="635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6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28750" y="7343775"/>
            <a:ext cx="157162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On teste aussi les refus : un étudiant qui ouvre les compétences d'un autre doit être bloqué (REC-CMP-02).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" y="9086850"/>
            <a:ext cx="15049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cahier des charges (EF, CA) · MPD · cahier_de_recettes (matrice de couverture EF-01 à EF-15)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04 · LA CODE 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Un dépôt, des modules métier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2667000"/>
            <a:ext cx="8191500" cy="6096000"/>
            <a:chOff x="0" y="0"/>
            <a:chExt cx="10922000" cy="812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22000" cy="8128000"/>
            </a:xfrm>
            <a:custGeom>
              <a:avLst/>
              <a:gdLst/>
              <a:ahLst/>
              <a:cxnLst/>
              <a:rect r="r" b="b" t="t" l="l"/>
              <a:pathLst>
                <a:path h="8128000" w="10922000">
                  <a:moveTo>
                    <a:pt x="203200" y="0"/>
                  </a:moveTo>
                  <a:lnTo>
                    <a:pt x="10718800" y="0"/>
                  </a:lnTo>
                  <a:cubicBezTo>
                    <a:pt x="10831024" y="0"/>
                    <a:pt x="10922000" y="90976"/>
                    <a:pt x="10922000" y="203200"/>
                  </a:cubicBezTo>
                  <a:lnTo>
                    <a:pt x="10922000" y="7924800"/>
                  </a:lnTo>
                  <a:cubicBezTo>
                    <a:pt x="10922000" y="8037024"/>
                    <a:pt x="10831024" y="8128000"/>
                    <a:pt x="10718800" y="8128000"/>
                  </a:cubicBezTo>
                  <a:lnTo>
                    <a:pt x="203200" y="8128000"/>
                  </a:lnTo>
                  <a:cubicBezTo>
                    <a:pt x="90976" y="8128000"/>
                    <a:pt x="0" y="8037024"/>
                    <a:pt x="0" y="7924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B0F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22000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19250" y="3105150"/>
            <a:ext cx="7429500" cy="480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E5E7EB"/>
                </a:solidFill>
                <a:latin typeface="Arimo"/>
                <a:ea typeface="Arimo"/>
                <a:cs typeface="Arimo"/>
                <a:sym typeface="Arimo"/>
              </a:rPr>
              <a:t>apps/web/  — client Angular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E5E7EB"/>
                </a:solidFill>
                <a:latin typeface="Arimo"/>
                <a:ea typeface="Arimo"/>
                <a:cs typeface="Arimo"/>
                <a:sym typeface="Arimo"/>
              </a:rPr>
              <a:t>apps/api/cmd/  — point d'entrée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E5E7EB"/>
                </a:solidFill>
                <a:latin typeface="Arimo"/>
                <a:ea typeface="Arimo"/>
                <a:cs typeface="Arimo"/>
                <a:sym typeface="Arimo"/>
              </a:rPr>
              <a:t>apps/api/internal/  — modules métier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E5E7EB"/>
                </a:solidFill>
                <a:latin typeface="Arimo"/>
                <a:ea typeface="Arimo"/>
                <a:cs typeface="Arimo"/>
                <a:sym typeface="Arimo"/>
              </a:rPr>
              <a:t>    identity · access · users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E5E7EB"/>
                </a:solidFill>
                <a:latin typeface="Arimo"/>
                <a:ea typeface="Arimo"/>
                <a:cs typeface="Arimo"/>
                <a:sym typeface="Arimo"/>
              </a:rPr>
              <a:t>    promotions · curriculum · projects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E5E7EB"/>
                </a:solidFill>
                <a:latin typeface="Arimo"/>
                <a:ea typeface="Arimo"/>
                <a:cs typeface="Arimo"/>
                <a:sym typeface="Arimo"/>
              </a:rPr>
              <a:t>    participation · submissions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E5E7EB"/>
                </a:solidFill>
                <a:latin typeface="Arimo"/>
                <a:ea typeface="Arimo"/>
                <a:cs typeface="Arimo"/>
                <a:sym typeface="Arimo"/>
              </a:rPr>
              <a:t>    competencies · timelogs · reporting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E5E7EB"/>
                </a:solidFill>
                <a:latin typeface="Arimo"/>
                <a:ea typeface="Arimo"/>
                <a:cs typeface="Arimo"/>
                <a:sym typeface="Arimo"/>
              </a:rPr>
              <a:t>database/migrations/  — schéma versionné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E5E7EB"/>
                </a:solidFill>
                <a:latin typeface="Arimo"/>
                <a:ea typeface="Arimo"/>
                <a:cs typeface="Arimo"/>
                <a:sym typeface="Arimo"/>
              </a:rPr>
              <a:t>tests/  — intégration, e2e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E5E7EB"/>
                </a:solidFill>
                <a:latin typeface="Arimo"/>
                <a:ea typeface="Arimo"/>
                <a:cs typeface="Arimo"/>
                <a:sym typeface="Arimo"/>
              </a:rPr>
              <a:t>docs/  — ADR, runbooks, recette</a:t>
            </a:r>
          </a:p>
          <a:p>
            <a:pPr algn="l">
              <a:lnSpc>
                <a:spcPts val="3510"/>
              </a:lnSpc>
            </a:pPr>
            <a:r>
              <a:rPr lang="en-US" sz="1950">
                <a:solidFill>
                  <a:srgbClr val="E5E7EB"/>
                </a:solidFill>
                <a:latin typeface="Arimo"/>
                <a:ea typeface="Arimo"/>
                <a:cs typeface="Arimo"/>
                <a:sym typeface="Arimo"/>
              </a:rPr>
              <a:t>infra/  — conteneurs, proxy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6500" y="2609850"/>
            <a:ext cx="7048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Le chemin d'une requête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96500" y="3162300"/>
            <a:ext cx="7048500" cy="315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4200"/>
              </a:lnSpc>
              <a:buAutoNum type="arabicPeriod" startAt="1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Composant Angular (features/)</a:t>
            </a:r>
          </a:p>
          <a:p>
            <a:pPr algn="l" marL="453390" indent="-226695" lvl="1">
              <a:lnSpc>
                <a:spcPts val="4200"/>
              </a:lnSpc>
              <a:buAutoNum type="arabicPeriod" startAt="1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Handler HTTP Go</a:t>
            </a:r>
          </a:p>
          <a:p>
            <a:pPr algn="l" marL="453390" indent="-226695" lvl="1">
              <a:lnSpc>
                <a:spcPts val="4200"/>
              </a:lnSpc>
              <a:buAutoNum type="arabicPeriod" startAt="1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Service du module métier</a:t>
            </a:r>
          </a:p>
          <a:p>
            <a:pPr algn="l" marL="453390" indent="-226695" lvl="1">
              <a:lnSpc>
                <a:spcPts val="4200"/>
              </a:lnSpc>
              <a:buAutoNum type="arabicPeriod" startAt="1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Politique d'accès : access.Can</a:t>
            </a:r>
          </a:p>
          <a:p>
            <a:pPr algn="l" marL="453390" indent="-226695" lvl="1">
              <a:lnSpc>
                <a:spcPts val="4200"/>
              </a:lnSpc>
              <a:buAutoNum type="arabicPeriod" startAt="1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Repository SQL (pgx)</a:t>
            </a:r>
          </a:p>
          <a:p>
            <a:pPr algn="l" marL="453390" indent="-226695" lvl="1">
              <a:lnSpc>
                <a:spcPts val="4200"/>
              </a:lnSpc>
              <a:buAutoNum type="arabicPeriod" startAt="1"/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PostgreSQL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96500" y="7239000"/>
            <a:ext cx="7048500" cy="1524000"/>
            <a:chOff x="0" y="0"/>
            <a:chExt cx="9398000" cy="203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98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9398000">
                  <a:moveTo>
                    <a:pt x="203200" y="0"/>
                  </a:moveTo>
                  <a:lnTo>
                    <a:pt x="9194800" y="0"/>
                  </a:lnTo>
                  <a:cubicBezTo>
                    <a:pt x="9307024" y="0"/>
                    <a:pt x="9398000" y="90976"/>
                    <a:pt x="9398000" y="203200"/>
                  </a:cubicBezTo>
                  <a:lnTo>
                    <a:pt x="9398000" y="1828800"/>
                  </a:lnTo>
                  <a:cubicBezTo>
                    <a:pt x="9398000" y="1941024"/>
                    <a:pt x="9307024" y="2032000"/>
                    <a:pt x="9194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398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382250" y="7543800"/>
            <a:ext cx="6477000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Un monolithe modulaire : un seul déploiement, mais chaque module garde ses données et ses règles.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9086850"/>
            <a:ext cx="1428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README développeur · DAT Composants · diagramme de composants (Lucid)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1476375"/>
            <a:ext cx="18288000" cy="7620000"/>
          </a:xfrm>
          <a:custGeom>
            <a:avLst/>
            <a:gdLst/>
            <a:ahLst/>
            <a:cxnLst/>
            <a:rect r="r" b="b" t="t" l="l"/>
            <a:pathLst>
              <a:path h="7620000" w="18288000">
                <a:moveTo>
                  <a:pt x="0" y="0"/>
                </a:moveTo>
                <a:lnTo>
                  <a:pt x="18288000" y="0"/>
                </a:lnTo>
                <a:lnTo>
                  <a:pt x="1828800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04 · LA CODE BASE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9086850"/>
            <a:ext cx="1428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Confluence : Stories Mapping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04 · LA CODE 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La vie d'un ticket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476500" y="3562350"/>
            <a:ext cx="13335000" cy="19050"/>
            <a:chOff x="0" y="0"/>
            <a:chExt cx="177800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80000" cy="25400"/>
            </a:xfrm>
            <a:custGeom>
              <a:avLst/>
              <a:gdLst/>
              <a:ahLst/>
              <a:cxnLst/>
              <a:rect r="r" b="b" t="t" l="l"/>
              <a:pathLst>
                <a:path h="25400" w="17780000">
                  <a:moveTo>
                    <a:pt x="0" y="0"/>
                  </a:moveTo>
                  <a:lnTo>
                    <a:pt x="17780000" y="0"/>
                  </a:lnTo>
                  <a:lnTo>
                    <a:pt x="1778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1D5D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78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47875" y="3143250"/>
            <a:ext cx="857250" cy="857250"/>
            <a:chOff x="0" y="0"/>
            <a:chExt cx="1143000" cy="114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635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572135" y="0"/>
                  </a:moveTo>
                  <a:cubicBezTo>
                    <a:pt x="887642" y="351"/>
                    <a:pt x="1143175" y="256310"/>
                    <a:pt x="1143000" y="571817"/>
                  </a:cubicBezTo>
                  <a:cubicBezTo>
                    <a:pt x="1142825" y="887324"/>
                    <a:pt x="887007" y="1143000"/>
                    <a:pt x="571500" y="1143000"/>
                  </a:cubicBezTo>
                  <a:cubicBezTo>
                    <a:pt x="255993" y="1143000"/>
                    <a:pt x="175" y="887324"/>
                    <a:pt x="0" y="571817"/>
                  </a:cubicBezTo>
                  <a:cubicBezTo>
                    <a:pt x="-175" y="256310"/>
                    <a:pt x="255358" y="351"/>
                    <a:pt x="570865" y="0"/>
                  </a:cubicBez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14875" y="3143250"/>
            <a:ext cx="857250" cy="857250"/>
            <a:chOff x="0" y="0"/>
            <a:chExt cx="1143000" cy="114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635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572135" y="0"/>
                  </a:moveTo>
                  <a:cubicBezTo>
                    <a:pt x="887642" y="351"/>
                    <a:pt x="1143175" y="256310"/>
                    <a:pt x="1143000" y="571817"/>
                  </a:cubicBezTo>
                  <a:cubicBezTo>
                    <a:pt x="1142825" y="887324"/>
                    <a:pt x="887007" y="1143000"/>
                    <a:pt x="571500" y="1143000"/>
                  </a:cubicBezTo>
                  <a:cubicBezTo>
                    <a:pt x="255993" y="1143000"/>
                    <a:pt x="175" y="887324"/>
                    <a:pt x="0" y="571817"/>
                  </a:cubicBezTo>
                  <a:cubicBezTo>
                    <a:pt x="-175" y="256310"/>
                    <a:pt x="255358" y="351"/>
                    <a:pt x="570865" y="0"/>
                  </a:cubicBez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81875" y="3143250"/>
            <a:ext cx="857250" cy="857250"/>
            <a:chOff x="0" y="0"/>
            <a:chExt cx="11430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635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572135" y="0"/>
                  </a:moveTo>
                  <a:cubicBezTo>
                    <a:pt x="887642" y="351"/>
                    <a:pt x="1143175" y="256310"/>
                    <a:pt x="1143000" y="571817"/>
                  </a:cubicBezTo>
                  <a:cubicBezTo>
                    <a:pt x="1142825" y="887324"/>
                    <a:pt x="887007" y="1143000"/>
                    <a:pt x="571500" y="1143000"/>
                  </a:cubicBezTo>
                  <a:cubicBezTo>
                    <a:pt x="255993" y="1143000"/>
                    <a:pt x="175" y="887324"/>
                    <a:pt x="0" y="571817"/>
                  </a:cubicBezTo>
                  <a:cubicBezTo>
                    <a:pt x="-175" y="256310"/>
                    <a:pt x="255358" y="351"/>
                    <a:pt x="570865" y="0"/>
                  </a:cubicBez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48875" y="3143250"/>
            <a:ext cx="857250" cy="857250"/>
            <a:chOff x="0" y="0"/>
            <a:chExt cx="1143000" cy="114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-635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572135" y="0"/>
                  </a:moveTo>
                  <a:cubicBezTo>
                    <a:pt x="887642" y="351"/>
                    <a:pt x="1143175" y="256310"/>
                    <a:pt x="1143000" y="571817"/>
                  </a:cubicBezTo>
                  <a:cubicBezTo>
                    <a:pt x="1142825" y="887324"/>
                    <a:pt x="887007" y="1143000"/>
                    <a:pt x="571500" y="1143000"/>
                  </a:cubicBezTo>
                  <a:cubicBezTo>
                    <a:pt x="255993" y="1143000"/>
                    <a:pt x="175" y="887324"/>
                    <a:pt x="0" y="571817"/>
                  </a:cubicBezTo>
                  <a:cubicBezTo>
                    <a:pt x="-175" y="256310"/>
                    <a:pt x="255358" y="351"/>
                    <a:pt x="570865" y="0"/>
                  </a:cubicBez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715875" y="3143250"/>
            <a:ext cx="857250" cy="857250"/>
            <a:chOff x="0" y="0"/>
            <a:chExt cx="1143000" cy="1143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-635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572135" y="0"/>
                  </a:moveTo>
                  <a:cubicBezTo>
                    <a:pt x="887642" y="351"/>
                    <a:pt x="1143175" y="256310"/>
                    <a:pt x="1143000" y="571817"/>
                  </a:cubicBezTo>
                  <a:cubicBezTo>
                    <a:pt x="1142825" y="887324"/>
                    <a:pt x="887007" y="1143000"/>
                    <a:pt x="571500" y="1143000"/>
                  </a:cubicBezTo>
                  <a:cubicBezTo>
                    <a:pt x="255993" y="1143000"/>
                    <a:pt x="175" y="887324"/>
                    <a:pt x="0" y="571817"/>
                  </a:cubicBezTo>
                  <a:cubicBezTo>
                    <a:pt x="-175" y="256310"/>
                    <a:pt x="255358" y="351"/>
                    <a:pt x="570865" y="0"/>
                  </a:cubicBez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382875" y="3143250"/>
            <a:ext cx="857250" cy="857250"/>
            <a:chOff x="0" y="0"/>
            <a:chExt cx="1143000" cy="1143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635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572135" y="0"/>
                  </a:moveTo>
                  <a:cubicBezTo>
                    <a:pt x="887642" y="351"/>
                    <a:pt x="1143175" y="256310"/>
                    <a:pt x="1143000" y="571817"/>
                  </a:cubicBezTo>
                  <a:cubicBezTo>
                    <a:pt x="1142825" y="887324"/>
                    <a:pt x="887007" y="1143000"/>
                    <a:pt x="571500" y="1143000"/>
                  </a:cubicBezTo>
                  <a:cubicBezTo>
                    <a:pt x="255993" y="1143000"/>
                    <a:pt x="175" y="887324"/>
                    <a:pt x="0" y="571817"/>
                  </a:cubicBezTo>
                  <a:cubicBezTo>
                    <a:pt x="-175" y="256310"/>
                    <a:pt x="255358" y="351"/>
                    <a:pt x="570865" y="0"/>
                  </a:cubicBez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047875" y="3295650"/>
            <a:ext cx="857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14875" y="3295650"/>
            <a:ext cx="857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81875" y="3295650"/>
            <a:ext cx="857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48875" y="3295650"/>
            <a:ext cx="857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15875" y="3295650"/>
            <a:ext cx="857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382875" y="3295650"/>
            <a:ext cx="857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5875" y="4210050"/>
            <a:ext cx="238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Ticket Jira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et ses critères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952875" y="4210050"/>
            <a:ext cx="238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Branche Git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depuis dev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619875" y="4210050"/>
            <a:ext cx="238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Code, tests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et documentation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86875" y="4210050"/>
            <a:ext cx="238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Pull request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et revue de code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53875" y="4210050"/>
            <a:ext cx="238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CI : lint, tests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et build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620875" y="4210050"/>
            <a:ext cx="238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Merge puis</a:t>
            </a: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recette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43000" y="6477000"/>
            <a:ext cx="5143500" cy="1238250"/>
            <a:chOff x="0" y="0"/>
            <a:chExt cx="6858000" cy="1651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5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858000">
                  <a:moveTo>
                    <a:pt x="203200" y="0"/>
                  </a:moveTo>
                  <a:lnTo>
                    <a:pt x="6654800" y="0"/>
                  </a:lnTo>
                  <a:cubicBezTo>
                    <a:pt x="6767024" y="0"/>
                    <a:pt x="6858000" y="90976"/>
                    <a:pt x="6858000" y="203200"/>
                  </a:cubicBezTo>
                  <a:lnTo>
                    <a:pt x="6858000" y="1447800"/>
                  </a:lnTo>
                  <a:cubicBezTo>
                    <a:pt x="6858000" y="1560024"/>
                    <a:pt x="6767024" y="1651000"/>
                    <a:pt x="6654800" y="1651000"/>
                  </a:cubicBezTo>
                  <a:lnTo>
                    <a:pt x="203200" y="1651000"/>
                  </a:lnTo>
                  <a:cubicBezTo>
                    <a:pt x="90976" y="1651000"/>
                    <a:pt x="0" y="1560024"/>
                    <a:pt x="0" y="144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85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33500" y="6886575"/>
            <a:ext cx="476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Pas de merge sans revue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572250" y="6477000"/>
            <a:ext cx="5143500" cy="1238250"/>
            <a:chOff x="0" y="0"/>
            <a:chExt cx="6858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5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858000">
                  <a:moveTo>
                    <a:pt x="203200" y="0"/>
                  </a:moveTo>
                  <a:lnTo>
                    <a:pt x="6654800" y="0"/>
                  </a:lnTo>
                  <a:cubicBezTo>
                    <a:pt x="6767024" y="0"/>
                    <a:pt x="6858000" y="90976"/>
                    <a:pt x="6858000" y="203200"/>
                  </a:cubicBezTo>
                  <a:lnTo>
                    <a:pt x="6858000" y="1447800"/>
                  </a:lnTo>
                  <a:cubicBezTo>
                    <a:pt x="6858000" y="1560024"/>
                    <a:pt x="6767024" y="1651000"/>
                    <a:pt x="6654800" y="1651000"/>
                  </a:cubicBezTo>
                  <a:lnTo>
                    <a:pt x="203200" y="1651000"/>
                  </a:lnTo>
                  <a:cubicBezTo>
                    <a:pt x="90976" y="1651000"/>
                    <a:pt x="0" y="1560024"/>
                    <a:pt x="0" y="144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85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6762750" y="6886575"/>
            <a:ext cx="476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Une CI rouge bloque le merge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001500" y="6477000"/>
            <a:ext cx="5143500" cy="1238250"/>
            <a:chOff x="0" y="0"/>
            <a:chExt cx="6858000" cy="1651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5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858000">
                  <a:moveTo>
                    <a:pt x="203200" y="0"/>
                  </a:moveTo>
                  <a:lnTo>
                    <a:pt x="6654800" y="0"/>
                  </a:lnTo>
                  <a:cubicBezTo>
                    <a:pt x="6767024" y="0"/>
                    <a:pt x="6858000" y="90976"/>
                    <a:pt x="6858000" y="203200"/>
                  </a:cubicBezTo>
                  <a:lnTo>
                    <a:pt x="6858000" y="1447800"/>
                  </a:lnTo>
                  <a:cubicBezTo>
                    <a:pt x="6858000" y="1560024"/>
                    <a:pt x="6767024" y="1651000"/>
                    <a:pt x="6654800" y="1651000"/>
                  </a:cubicBezTo>
                  <a:lnTo>
                    <a:pt x="203200" y="1651000"/>
                  </a:lnTo>
                  <a:cubicBezTo>
                    <a:pt x="90976" y="1651000"/>
                    <a:pt x="0" y="1560024"/>
                    <a:pt x="0" y="144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85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192000" y="6886575"/>
            <a:ext cx="476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Aucun secret dans Git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43000" y="6010275"/>
            <a:ext cx="38100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6B7280"/>
                </a:solidFill>
                <a:latin typeface="Arimo Bold"/>
                <a:ea typeface="Arimo Bold"/>
                <a:cs typeface="Arimo Bold"/>
                <a:sym typeface="Arimo Bold"/>
              </a:rPr>
              <a:t>RÈGLES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43000" y="9086850"/>
            <a:ext cx="15049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Jira (tableau du sprint) · GitHub (CONTRIBUTING, modèle de PR) · cr_choix_méthode.pdf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04 · LA CODE 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Tester pour pouvoir affirmer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238500" y="2857500"/>
            <a:ext cx="3810000" cy="1047750"/>
            <a:chOff x="0" y="0"/>
            <a:chExt cx="5080000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080000">
                  <a:moveTo>
                    <a:pt x="152400" y="0"/>
                  </a:moveTo>
                  <a:lnTo>
                    <a:pt x="4927600" y="0"/>
                  </a:lnTo>
                  <a:cubicBezTo>
                    <a:pt x="5011768" y="0"/>
                    <a:pt x="5080000" y="68232"/>
                    <a:pt x="5080000" y="152400"/>
                  </a:cubicBezTo>
                  <a:lnTo>
                    <a:pt x="5080000" y="1244600"/>
                  </a:lnTo>
                  <a:cubicBezTo>
                    <a:pt x="5080000" y="1328768"/>
                    <a:pt x="5011768" y="1397000"/>
                    <a:pt x="4927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80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33750" y="3000375"/>
            <a:ext cx="36195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Recette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cahier de recettes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476500" y="4048125"/>
            <a:ext cx="5334000" cy="1047750"/>
            <a:chOff x="0" y="0"/>
            <a:chExt cx="7112000" cy="139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1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7112000">
                  <a:moveTo>
                    <a:pt x="152400" y="0"/>
                  </a:moveTo>
                  <a:lnTo>
                    <a:pt x="6959600" y="0"/>
                  </a:lnTo>
                  <a:cubicBezTo>
                    <a:pt x="7043769" y="0"/>
                    <a:pt x="7112000" y="68232"/>
                    <a:pt x="7112000" y="152400"/>
                  </a:cubicBezTo>
                  <a:lnTo>
                    <a:pt x="7112000" y="1244600"/>
                  </a:lnTo>
                  <a:cubicBezTo>
                    <a:pt x="7112000" y="1328768"/>
                    <a:pt x="7043769" y="1397000"/>
                    <a:pt x="6959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4D88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112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71750" y="4191000"/>
            <a:ext cx="51435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Parcours E2E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Playwright · axe-core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14500" y="5238750"/>
            <a:ext cx="6858000" cy="1047750"/>
            <a:chOff x="0" y="0"/>
            <a:chExt cx="9144000" cy="139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9144000">
                  <a:moveTo>
                    <a:pt x="152400" y="0"/>
                  </a:moveTo>
                  <a:lnTo>
                    <a:pt x="8991600" y="0"/>
                  </a:lnTo>
                  <a:cubicBezTo>
                    <a:pt x="9075769" y="0"/>
                    <a:pt x="9144000" y="68232"/>
                    <a:pt x="9144000" y="152400"/>
                  </a:cubicBezTo>
                  <a:lnTo>
                    <a:pt x="9144000" y="1244600"/>
                  </a:lnTo>
                  <a:cubicBezTo>
                    <a:pt x="9144000" y="1328768"/>
                    <a:pt x="9075769" y="1397000"/>
                    <a:pt x="8991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BFD3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809750" y="5381625"/>
            <a:ext cx="66675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Intégration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PostgreSQL réel en conteneur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000" y="6429375"/>
            <a:ext cx="8001000" cy="1047750"/>
            <a:chOff x="0" y="0"/>
            <a:chExt cx="10668000" cy="139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6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0668000">
                  <a:moveTo>
                    <a:pt x="152400" y="0"/>
                  </a:moveTo>
                  <a:lnTo>
                    <a:pt x="10515600" y="0"/>
                  </a:lnTo>
                  <a:cubicBezTo>
                    <a:pt x="10599769" y="0"/>
                    <a:pt x="10668000" y="68232"/>
                    <a:pt x="10668000" y="152400"/>
                  </a:cubicBezTo>
                  <a:lnTo>
                    <a:pt x="10668000" y="1244600"/>
                  </a:lnTo>
                  <a:cubicBezTo>
                    <a:pt x="10668000" y="1328768"/>
                    <a:pt x="10599769" y="1397000"/>
                    <a:pt x="10515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66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38250" y="6572250"/>
            <a:ext cx="78105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Unitaires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go test · httptest · Angular TestBed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0" y="2800350"/>
            <a:ext cx="68580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Quand les lancer 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0" y="3352800"/>
            <a:ext cx="6858000" cy="145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390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À chaque PR : unitaires et intégration en CI</a:t>
            </a:r>
          </a:p>
          <a:p>
            <a:pPr algn="l" marL="421005" indent="-210502" lvl="1">
              <a:lnSpc>
                <a:spcPts val="390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À chaque sprint : parcours E2E et non-régression</a:t>
            </a:r>
          </a:p>
          <a:p>
            <a:pPr algn="l" marL="421005" indent="-210502" lvl="1">
              <a:lnSpc>
                <a:spcPts val="390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Avant la production : recette complète, charge et sécurité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87000" y="6096000"/>
            <a:ext cx="6858000" cy="1381125"/>
            <a:chOff x="0" y="0"/>
            <a:chExt cx="9144000" cy="1841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9144000">
                  <a:moveTo>
                    <a:pt x="203200" y="0"/>
                  </a:moveTo>
                  <a:lnTo>
                    <a:pt x="8940800" y="0"/>
                  </a:lnTo>
                  <a:cubicBezTo>
                    <a:pt x="9053024" y="0"/>
                    <a:pt x="9144000" y="90976"/>
                    <a:pt x="9144000" y="203200"/>
                  </a:cubicBezTo>
                  <a:lnTo>
                    <a:pt x="9144000" y="1638300"/>
                  </a:lnTo>
                  <a:cubicBezTo>
                    <a:pt x="9144000" y="1750524"/>
                    <a:pt x="9053024" y="1841500"/>
                    <a:pt x="8940800" y="1841500"/>
                  </a:cubicBezTo>
                  <a:lnTo>
                    <a:pt x="203200" y="1841500"/>
                  </a:lnTo>
                  <a:cubicBezTo>
                    <a:pt x="90976" y="1841500"/>
                    <a:pt x="0" y="1750524"/>
                    <a:pt x="0" y="16383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44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572750" y="6372225"/>
            <a:ext cx="62865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Chaque exigence a son scénario, y compris les accès refusés.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000" y="9086850"/>
            <a:ext cx="15049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DAT Plan de tests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04 · LA CODE 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Trois règles non négociables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2857500"/>
            <a:ext cx="5143500" cy="3429000"/>
            <a:chOff x="0" y="0"/>
            <a:chExt cx="6858000" cy="457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58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6858000">
                  <a:moveTo>
                    <a:pt x="203200" y="0"/>
                  </a:moveTo>
                  <a:lnTo>
                    <a:pt x="6654800" y="0"/>
                  </a:lnTo>
                  <a:cubicBezTo>
                    <a:pt x="6767024" y="0"/>
                    <a:pt x="6858000" y="90976"/>
                    <a:pt x="6858000" y="203200"/>
                  </a:cubicBezTo>
                  <a:lnTo>
                    <a:pt x="6858000" y="4368800"/>
                  </a:lnTo>
                  <a:cubicBezTo>
                    <a:pt x="6858000" y="4481024"/>
                    <a:pt x="6767024" y="4572000"/>
                    <a:pt x="6654800" y="4572000"/>
                  </a:cubicBezTo>
                  <a:lnTo>
                    <a:pt x="203200" y="4572000"/>
                  </a:lnTo>
                  <a:cubicBezTo>
                    <a:pt x="90976" y="4572000"/>
                    <a:pt x="0" y="4481024"/>
                    <a:pt x="0" y="436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858000" cy="461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72250" y="2857500"/>
            <a:ext cx="5143500" cy="3429000"/>
            <a:chOff x="0" y="0"/>
            <a:chExt cx="6858000" cy="457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6858000">
                  <a:moveTo>
                    <a:pt x="203200" y="0"/>
                  </a:moveTo>
                  <a:lnTo>
                    <a:pt x="6654800" y="0"/>
                  </a:lnTo>
                  <a:cubicBezTo>
                    <a:pt x="6767024" y="0"/>
                    <a:pt x="6858000" y="90976"/>
                    <a:pt x="6858000" y="203200"/>
                  </a:cubicBezTo>
                  <a:lnTo>
                    <a:pt x="6858000" y="4368800"/>
                  </a:lnTo>
                  <a:cubicBezTo>
                    <a:pt x="6858000" y="4481024"/>
                    <a:pt x="6767024" y="4572000"/>
                    <a:pt x="6654800" y="4572000"/>
                  </a:cubicBezTo>
                  <a:lnTo>
                    <a:pt x="203200" y="4572000"/>
                  </a:lnTo>
                  <a:cubicBezTo>
                    <a:pt x="90976" y="4572000"/>
                    <a:pt x="0" y="4481024"/>
                    <a:pt x="0" y="436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858000" cy="461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01500" y="2857500"/>
            <a:ext cx="5143500" cy="3429000"/>
            <a:chOff x="0" y="0"/>
            <a:chExt cx="6858000" cy="457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58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6858000">
                  <a:moveTo>
                    <a:pt x="203200" y="0"/>
                  </a:moveTo>
                  <a:lnTo>
                    <a:pt x="6654800" y="0"/>
                  </a:lnTo>
                  <a:cubicBezTo>
                    <a:pt x="6767024" y="0"/>
                    <a:pt x="6858000" y="90976"/>
                    <a:pt x="6858000" y="203200"/>
                  </a:cubicBezTo>
                  <a:lnTo>
                    <a:pt x="6858000" y="4368800"/>
                  </a:lnTo>
                  <a:cubicBezTo>
                    <a:pt x="6858000" y="4481024"/>
                    <a:pt x="6767024" y="4572000"/>
                    <a:pt x="6654800" y="4572000"/>
                  </a:cubicBezTo>
                  <a:lnTo>
                    <a:pt x="203200" y="4572000"/>
                  </a:lnTo>
                  <a:cubicBezTo>
                    <a:pt x="90976" y="4572000"/>
                    <a:pt x="0" y="4481024"/>
                    <a:pt x="0" y="436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858000" cy="461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3000" y="2857500"/>
            <a:ext cx="5143500" cy="76200"/>
            <a:chOff x="0" y="0"/>
            <a:chExt cx="6858000" cy="10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58000" cy="101600"/>
            </a:xfrm>
            <a:custGeom>
              <a:avLst/>
              <a:gdLst/>
              <a:ahLst/>
              <a:cxnLst/>
              <a:rect r="r" b="b" t="t" l="l"/>
              <a:pathLst>
                <a:path h="101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58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72250" y="2857500"/>
            <a:ext cx="5143500" cy="76200"/>
            <a:chOff x="0" y="0"/>
            <a:chExt cx="6858000" cy="10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8000" cy="101600"/>
            </a:xfrm>
            <a:custGeom>
              <a:avLst/>
              <a:gdLst/>
              <a:ahLst/>
              <a:cxnLst/>
              <a:rect r="r" b="b" t="t" l="l"/>
              <a:pathLst>
                <a:path h="101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858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01500" y="2857500"/>
            <a:ext cx="5143500" cy="76200"/>
            <a:chOff x="0" y="0"/>
            <a:chExt cx="6858000" cy="10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58000" cy="101600"/>
            </a:xfrm>
            <a:custGeom>
              <a:avLst/>
              <a:gdLst/>
              <a:ahLst/>
              <a:cxnLst/>
              <a:rect r="r" b="b" t="t" l="l"/>
              <a:pathLst>
                <a:path h="101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858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24000" y="3257550"/>
            <a:ext cx="4381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Sécurité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4000" y="3962400"/>
            <a:ext cx="4381500" cy="173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351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Droits vérifiés côté serveur, à chaque requête</a:t>
            </a:r>
          </a:p>
          <a:p>
            <a:pPr algn="l" marL="421005" indent="-210502" lvl="1">
              <a:lnSpc>
                <a:spcPts val="351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Session opaque, cookie HttpOnly</a:t>
            </a:r>
          </a:p>
          <a:p>
            <a:pPr algn="l" marL="421005" indent="-210502" lvl="1">
              <a:lnSpc>
                <a:spcPts val="351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Aucun secret ni jeton dans les logs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53250" y="3257550"/>
            <a:ext cx="4381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RGPD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53250" y="3962400"/>
            <a:ext cx="4381500" cy="173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351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Collecter le strict nécessaire</a:t>
            </a:r>
          </a:p>
          <a:p>
            <a:pPr algn="l" marL="421005" indent="-210502" lvl="1">
              <a:lnSpc>
                <a:spcPts val="351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Durées de conservation définies</a:t>
            </a:r>
          </a:p>
          <a:p>
            <a:pPr algn="l" marL="421005" indent="-210502" lvl="1">
              <a:lnSpc>
                <a:spcPts val="351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Droits d'accès et de rectification des étudiants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82500" y="3257550"/>
            <a:ext cx="4381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Accessibilité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82500" y="3962400"/>
            <a:ext cx="438150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351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Cible RGAA / WCAG 2.2 AA</a:t>
            </a:r>
          </a:p>
          <a:p>
            <a:pPr algn="l" marL="421005" indent="-210502" lvl="1">
              <a:lnSpc>
                <a:spcPts val="351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Navigation complète au clavier</a:t>
            </a:r>
          </a:p>
          <a:p>
            <a:pPr algn="l" marL="421005" indent="-210502" lvl="1">
              <a:lnSpc>
                <a:spcPts val="3510"/>
              </a:lnSpc>
              <a:buFont typeface="Arial"/>
              <a:buChar char="•"/>
            </a:pPr>
            <a:r>
              <a:rPr lang="en-US" sz="19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Erreurs de formulaire explicites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" y="9086850"/>
            <a:ext cx="15049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DAT Sécurité et Accessibilité · cahier des charges (contraintes RGPD et accessibilité)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17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43000" y="6858000"/>
            <a:ext cx="16002000" cy="1143000"/>
            <a:chOff x="0" y="0"/>
            <a:chExt cx="21336000" cy="1524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33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336000">
                  <a:moveTo>
                    <a:pt x="203200" y="0"/>
                  </a:moveTo>
                  <a:lnTo>
                    <a:pt x="21132800" y="0"/>
                  </a:lnTo>
                  <a:cubicBezTo>
                    <a:pt x="21245024" y="0"/>
                    <a:pt x="21336000" y="90976"/>
                    <a:pt x="21336000" y="203200"/>
                  </a:cubicBezTo>
                  <a:lnTo>
                    <a:pt x="21336000" y="1320800"/>
                  </a:lnTo>
                  <a:cubicBezTo>
                    <a:pt x="21336000" y="1433024"/>
                    <a:pt x="21245024" y="1524000"/>
                    <a:pt x="21132800" y="1524000"/>
                  </a:cubicBezTo>
                  <a:lnTo>
                    <a:pt x="203200" y="1524000"/>
                  </a:lnTo>
                  <a:cubicBezTo>
                    <a:pt x="90976" y="1524000"/>
                    <a:pt x="0" y="1433024"/>
                    <a:pt x="0" y="1320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133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24000" y="7219950"/>
            <a:ext cx="15240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Connexion Google : seul un compte @laplateforme.io déjà inscrit dans Globe ouvre une session.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04 · LA CODE 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La documentation que vous tiendrez à jour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2667000"/>
            <a:ext cx="16002000" cy="609600"/>
            <a:chOff x="0" y="0"/>
            <a:chExt cx="213360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0" cy="812800"/>
            </a:xfrm>
            <a:custGeom>
              <a:avLst/>
              <a:gdLst/>
              <a:ahLst/>
              <a:cxnLst/>
              <a:rect r="r" b="b" t="t" l="l"/>
              <a:pathLst>
                <a:path h="812800" w="21336000">
                  <a:moveTo>
                    <a:pt x="152400" y="0"/>
                  </a:moveTo>
                  <a:lnTo>
                    <a:pt x="21183600" y="0"/>
                  </a:lnTo>
                  <a:cubicBezTo>
                    <a:pt x="21267769" y="0"/>
                    <a:pt x="21336000" y="68232"/>
                    <a:pt x="21336000" y="152400"/>
                  </a:cubicBezTo>
                  <a:lnTo>
                    <a:pt x="21336000" y="660400"/>
                  </a:lnTo>
                  <a:cubicBezTo>
                    <a:pt x="21336000" y="744568"/>
                    <a:pt x="21267769" y="812800"/>
                    <a:pt x="21183600" y="812800"/>
                  </a:cubicBezTo>
                  <a:lnTo>
                    <a:pt x="152400" y="812800"/>
                  </a:lnTo>
                  <a:cubicBezTo>
                    <a:pt x="68232" y="812800"/>
                    <a:pt x="0" y="744568"/>
                    <a:pt x="0" y="660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0F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336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3800475"/>
            <a:ext cx="16002000" cy="523875"/>
            <a:chOff x="0" y="0"/>
            <a:chExt cx="21336000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698500"/>
            </a:xfrm>
            <a:custGeom>
              <a:avLst/>
              <a:gdLst/>
              <a:ahLst/>
              <a:cxnLst/>
              <a:rect r="r" b="b" t="t" l="l"/>
              <a:pathLst>
                <a:path h="6985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336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" y="4838700"/>
            <a:ext cx="16002000" cy="523875"/>
            <a:chOff x="0" y="0"/>
            <a:chExt cx="213360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00" cy="698500"/>
            </a:xfrm>
            <a:custGeom>
              <a:avLst/>
              <a:gdLst/>
              <a:ahLst/>
              <a:cxnLst/>
              <a:rect r="r" b="b" t="t" l="l"/>
              <a:pathLst>
                <a:path h="6985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336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3000" y="5886450"/>
            <a:ext cx="16002000" cy="523875"/>
            <a:chOff x="0" y="0"/>
            <a:chExt cx="213360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36000" cy="698500"/>
            </a:xfrm>
            <a:custGeom>
              <a:avLst/>
              <a:gdLst/>
              <a:ahLst/>
              <a:cxnLst/>
              <a:rect r="r" b="b" t="t" l="l"/>
              <a:pathLst>
                <a:path h="6985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336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28750" y="2771775"/>
            <a:ext cx="2476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Document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91000" y="2771775"/>
            <a:ext cx="3429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Quand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10500" y="2771775"/>
            <a:ext cx="3048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Qui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9000" y="2771775"/>
            <a:ext cx="3048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Où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97000" y="2771775"/>
            <a:ext cx="3048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Garantie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3028950"/>
            <a:ext cx="2571750" cy="337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OpenAPI</a:t>
            </a:r>
          </a:p>
          <a:p>
            <a:pPr algn="l">
              <a:lnSpc>
                <a:spcPts val="4500"/>
              </a:lnSpc>
            </a:pPr>
            <a:r>
              <a:rPr lang="en-US" sz="1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README</a:t>
            </a:r>
          </a:p>
          <a:p>
            <a:pPr algn="l">
              <a:lnSpc>
                <a:spcPts val="4500"/>
              </a:lnSpc>
            </a:pPr>
            <a:r>
              <a:rPr lang="en-US" sz="1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ADR</a:t>
            </a:r>
          </a:p>
          <a:p>
            <a:pPr algn="l">
              <a:lnSpc>
                <a:spcPts val="4500"/>
              </a:lnSpc>
            </a:pPr>
            <a:r>
              <a:rPr lang="en-US" sz="1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Migrations SQL</a:t>
            </a:r>
          </a:p>
          <a:p>
            <a:pPr algn="l">
              <a:lnSpc>
                <a:spcPts val="4500"/>
              </a:lnSpc>
            </a:pPr>
            <a:r>
              <a:rPr lang="en-US" sz="1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Cahier de recettes</a:t>
            </a:r>
          </a:p>
          <a:p>
            <a:pPr algn="l">
              <a:lnSpc>
                <a:spcPts val="4500"/>
              </a:lnSpc>
            </a:pPr>
            <a:r>
              <a:rPr lang="en-US" sz="1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Changelog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91000" y="3028950"/>
            <a:ext cx="3524250" cy="337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Avec chaque route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Si l'installation change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À chaque décision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Si le schéma change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À chaque incrément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À chaque version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10500" y="3028950"/>
            <a:ext cx="3143250" cy="337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Dev du ticket + lead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Dev du ticket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Directeur technique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Dev du ticket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QA et Product Owner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Lead technique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49000" y="3028950"/>
            <a:ext cx="2952750" cy="337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Généré depuis le code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Dépôt GitHub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docs/adr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database/migrations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Confluence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GitHub Releases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97000" y="3028950"/>
            <a:ext cx="2952750" cy="337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Definition of Done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Revue de PR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Revue d'équipe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CI et DoD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Fin de sprint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Critère de release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000" y="7448550"/>
            <a:ext cx="16002000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Figé en amont : cahier des charges du MVP, modèle de données, ADR initiaux.  Vivant : tout le reste, écrit dans le ticket qui change le code.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3000" y="9086850"/>
            <a:ext cx="15049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Où trouver : DAT Documentation · cr_choix_méthode.pdf (Definition of Done)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POUR COMMENCER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Où trouver quoi, et par où commencer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800350"/>
            <a:ext cx="2476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GitHub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19500" y="2847975"/>
            <a:ext cx="4953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Code, README, ADR, livrables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3657600"/>
            <a:ext cx="2476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Jira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19500" y="3705225"/>
            <a:ext cx="4953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Backlog, sprints et tickets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4514850"/>
            <a:ext cx="2476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Confluence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19500" y="4562475"/>
            <a:ext cx="4953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Dossier d'architecture, comptes rendus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5372100"/>
            <a:ext cx="2476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Lucid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19500" y="5419725"/>
            <a:ext cx="4953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Diagrammes UML, MCD, MLD, MPD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25000" y="2667000"/>
            <a:ext cx="7620000" cy="3619500"/>
            <a:chOff x="0" y="0"/>
            <a:chExt cx="10160000" cy="482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0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10160000">
                  <a:moveTo>
                    <a:pt x="254000" y="0"/>
                  </a:moveTo>
                  <a:lnTo>
                    <a:pt x="9906000" y="0"/>
                  </a:lnTo>
                  <a:cubicBezTo>
                    <a:pt x="10046281" y="0"/>
                    <a:pt x="10160000" y="113720"/>
                    <a:pt x="10160000" y="254000"/>
                  </a:cubicBezTo>
                  <a:lnTo>
                    <a:pt x="10160000" y="4572000"/>
                  </a:lnTo>
                  <a:cubicBezTo>
                    <a:pt x="10160000" y="4712280"/>
                    <a:pt x="10046281" y="4826000"/>
                    <a:pt x="9906000" y="4826000"/>
                  </a:cubicBezTo>
                  <a:lnTo>
                    <a:pt x="254000" y="4826000"/>
                  </a:lnTo>
                  <a:cubicBezTo>
                    <a:pt x="113720" y="4826000"/>
                    <a:pt x="0" y="4712280"/>
                    <a:pt x="0" y="4572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60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001250" y="2981325"/>
            <a:ext cx="66675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Votre première semaine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01250" y="3600450"/>
            <a:ext cx="6858000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4620"/>
              </a:lnSpc>
              <a:buAutoNum type="arabicPeriod" startAt="1"/>
            </a:pPr>
            <a:r>
              <a:rPr lang="en-US" sz="21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Lancer l'environnement local avec le README</a:t>
            </a:r>
          </a:p>
          <a:p>
            <a:pPr algn="l" marL="453390" indent="-226695" lvl="1">
              <a:lnSpc>
                <a:spcPts val="4620"/>
              </a:lnSpc>
              <a:buAutoNum type="arabicPeriod" startAt="1"/>
            </a:pPr>
            <a:r>
              <a:rPr lang="en-US" sz="21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Exécuter la suite de tests</a:t>
            </a:r>
          </a:p>
          <a:p>
            <a:pPr algn="l" marL="453390" indent="-226695" lvl="1">
              <a:lnSpc>
                <a:spcPts val="4620"/>
              </a:lnSpc>
              <a:buAutoNum type="arabicPeriod" startAt="1"/>
            </a:pPr>
            <a:r>
              <a:rPr lang="en-US" sz="21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Suivre une inscription : Angular, Go, SQL</a:t>
            </a:r>
          </a:p>
          <a:p>
            <a:pPr algn="l" marL="453390" indent="-226695" lvl="1">
              <a:lnSpc>
                <a:spcPts val="4620"/>
              </a:lnSpc>
              <a:buAutoNum type="arabicPeriod" startAt="1"/>
            </a:pPr>
            <a:r>
              <a:rPr lang="en-US" sz="2100">
                <a:solidFill>
                  <a:srgbClr val="0B0F19"/>
                </a:solidFill>
                <a:latin typeface="Arimo"/>
                <a:ea typeface="Arimo"/>
                <a:cs typeface="Arimo"/>
                <a:sym typeface="Arimo"/>
              </a:rPr>
              <a:t>Prendre un premier ticket en binôme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43000" y="7905750"/>
            <a:ext cx="16002000" cy="19050"/>
            <a:chOff x="0" y="0"/>
            <a:chExt cx="21336000" cy="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43000" y="822960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Une question ? Le Scrum Master et le lead technique sont vos premiers contacts.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33450"/>
            <a:ext cx="190500" cy="190500"/>
            <a:chOff x="0" y="0"/>
            <a:chExt cx="254000" cy="25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5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648075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4600575"/>
            <a:ext cx="16002000" cy="19050"/>
            <a:chOff x="0" y="0"/>
            <a:chExt cx="213360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5553075"/>
            <a:ext cx="16002000" cy="19050"/>
            <a:chOff x="0" y="0"/>
            <a:chExt cx="21336000" cy="25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6505575"/>
            <a:ext cx="16002000" cy="19050"/>
            <a:chOff x="0" y="0"/>
            <a:chExt cx="213360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85900" y="8667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POUR COMMENCER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1457325"/>
            <a:ext cx="160020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B0F19"/>
                </a:solidFill>
                <a:latin typeface="Arimo Bold"/>
                <a:ea typeface="Arimo Bold"/>
                <a:cs typeface="Arimo Bold"/>
                <a:sym typeface="Arimo Bold"/>
              </a:rPr>
              <a:t>Les liens utiles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2895600"/>
            <a:ext cx="2476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Jira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10000" y="2962275"/>
            <a:ext cx="5334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Backlog, sprints, tickets PG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34500" y="2971800"/>
            <a:ext cx="7810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u="sng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  <a:hlinkClick r:id="rId2" tooltip="https://oussemafatnassi.atlassian.net/jira/software/projects/PG"/>
              </a:rPr>
              <a:t>oussemafatnassi.atlassian.net/jira · projet PG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3000" y="3848100"/>
            <a:ext cx="2476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Confluence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10000" y="3914775"/>
            <a:ext cx="5334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Cahier des charges, DAT, recettes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34500" y="3924300"/>
            <a:ext cx="7810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u="sng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  <a:hlinkClick r:id="rId3" tooltip="https://oussemafatnassi.atlassian.net/wiki/spaces/PG"/>
              </a:rPr>
              <a:t>oussemafatnassi.atlassian.net/wiki · espace PG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3000" y="4800600"/>
            <a:ext cx="2476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Lucid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10000" y="4867275"/>
            <a:ext cx="5334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Story map, Sprint 1, diagrammes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34500" y="4876800"/>
            <a:ext cx="7810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u="sng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  <a:hlinkClick r:id="rId4" tooltip="https://lucid.app/lucidchart/649771ea-093a-481e-aa80-5e0bb200fbc5/edit"/>
              </a:rPr>
              <a:t>lucid.app · document « Globe »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3000" y="5790248"/>
            <a:ext cx="2476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Miro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10000" y="5856923"/>
            <a:ext cx="5334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Product Goal Canvas, équipe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34500" y="5866448"/>
            <a:ext cx="7810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u="sng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  <a:hlinkClick r:id="rId5" tooltip="https://miro.com/app/board/uXjVEdrbzI4=/"/>
              </a:rPr>
              <a:t>miro.com · tableau « Globe Project »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" y="6742748"/>
            <a:ext cx="2476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0055FF"/>
                </a:solidFill>
                <a:latin typeface="Arimo Bold"/>
                <a:ea typeface="Arimo Bold"/>
                <a:cs typeface="Arimo Bold"/>
                <a:sym typeface="Arimo Bold"/>
              </a:rPr>
              <a:t>GitHub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10000" y="6809423"/>
            <a:ext cx="5334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Code, README, ADR, livrables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34500" y="6818948"/>
            <a:ext cx="7810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i="true" u="sng">
                <a:solidFill>
                  <a:srgbClr val="0055FF"/>
                </a:solidFill>
                <a:latin typeface="Arimo Italics"/>
                <a:ea typeface="Arimo Italics"/>
                <a:cs typeface="Arimo Italics"/>
                <a:sym typeface="Arimo Italics"/>
                <a:hlinkClick r:id="rId6" tooltip="https://github.com/oussema-fatnassi/projet-globe"/>
              </a:rPr>
              <a:t>github.com/oussema-fatnassi/projet-globe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3000" y="9086850"/>
            <a:ext cx="1428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55FF"/>
                </a:solidFill>
                <a:latin typeface="Arimo"/>
                <a:ea typeface="Arimo"/>
                <a:cs typeface="Arimo"/>
                <a:sym typeface="Arimo"/>
              </a:rPr>
              <a:t>→  Les liens sont cliquables. Accès privés : demandez vos droits au Scrum Master dès le premier jour.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73500" y="9382125"/>
            <a:ext cx="571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DAHXuYRa7Z8</dc:identifier>
  <dcterms:modified xsi:type="dcterms:W3CDTF">2011-08-01T06:04:30Z</dcterms:modified>
  <cp:revision>1</cp:revision>
  <dc:title>Onboarding</dc:title>
</cp:coreProperties>
</file>